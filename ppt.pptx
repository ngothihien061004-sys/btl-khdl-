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67" r:id="rId3"/>
    <p:sldId id="266" r:id="rId4"/>
    <p:sldId id="257" r:id="rId5"/>
    <p:sldId id="258" r:id="rId6"/>
    <p:sldId id="259" r:id="rId7"/>
    <p:sldId id="260" r:id="rId8"/>
    <p:sldId id="261" r:id="rId9"/>
    <p:sldId id="262" r:id="rId10"/>
    <p:sldId id="263" r:id="rId11"/>
    <p:sldId id="264" r:id="rId12"/>
  </p:sldIdLst>
  <p:sldSz cx="12192000" cy="6858000"/>
  <p:notesSz cx="6858000" cy="12192000"/>
  <p:embeddedFontLst>
    <p:embeddedFont>
      <p:font typeface="Roboto" panose="02000000000000000000" pitchFamily="2" charset="0"/>
      <p:regular r:id="rId14"/>
      <p:bold r:id="rId15"/>
      <p:italic r:id="rId16"/>
      <p:boldItalic r:id="rId17"/>
    </p:embeddedFont>
    <p:embeddedFont>
      <p:font typeface="Roboto Slab" pitchFamily="2" charset="0"/>
      <p:regular r:id="rId18"/>
    </p:embeddedFont>
    <p:embeddedFont>
      <p:font typeface="Roboto Slab Light" pitchFamily="2"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4610"/>
  </p:normalViewPr>
  <p:slideViewPr>
    <p:cSldViewPr snapToGrid="0" snapToObjects="1">
      <p:cViewPr varScale="1">
        <p:scale>
          <a:sx n="60" d="100"/>
          <a:sy n="60" d="100"/>
        </p:scale>
        <p:origin x="9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883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535535" y="0"/>
            <a:ext cx="4656160" cy="6858000"/>
          </a:xfrm>
          <a:prstGeom prst="rect">
            <a:avLst/>
          </a:prstGeom>
          <a:solidFill>
            <a:srgbClr val="E9ECF2"/>
          </a:solidFill>
          <a:ln/>
        </p:spPr>
      </p:sp>
      <p:sp>
        <p:nvSpPr>
          <p:cNvPr id="4" name="Text 1"/>
          <p:cNvSpPr/>
          <p:nvPr/>
        </p:nvSpPr>
        <p:spPr>
          <a:xfrm>
            <a:off x="0" y="318977"/>
            <a:ext cx="7633471" cy="2413111"/>
          </a:xfrm>
          <a:prstGeom prst="rect">
            <a:avLst/>
          </a:prstGeom>
          <a:noFill/>
          <a:ln/>
        </p:spPr>
        <p:txBody>
          <a:bodyPr wrap="square" lIns="0" tIns="0" rIns="0" bIns="0" rtlCol="0" anchor="t">
            <a:normAutofit/>
          </a:bodyPr>
          <a:lstStyle/>
          <a:p>
            <a:pPr marL="0" indent="0" algn="ctr">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PHÂN TÍCH VÀ DỰ ĐOÁN XU HƯỚNG GIÁ XĂNG RON95 TẠI VIỆT NAM</a:t>
            </a:r>
            <a:endParaRPr lang="en-US" sz="2000" b="1" dirty="0">
              <a:latin typeface="Times New Roman" panose="02020603050405020304" pitchFamily="18" charset="0"/>
              <a:cs typeface="Times New Roman" panose="02020603050405020304" pitchFamily="18" charset="0"/>
            </a:endParaRPr>
          </a:p>
        </p:txBody>
      </p:sp>
      <p:sp>
        <p:nvSpPr>
          <p:cNvPr id="5" name="Text 2"/>
          <p:cNvSpPr/>
          <p:nvPr/>
        </p:nvSpPr>
        <p:spPr>
          <a:xfrm>
            <a:off x="335701" y="1564977"/>
            <a:ext cx="7033751" cy="302419"/>
          </a:xfrm>
          <a:prstGeom prst="rect">
            <a:avLst/>
          </a:prstGeom>
          <a:noFill/>
          <a:ln/>
        </p:spPr>
        <p:txBody>
          <a:bodyPr wrap="none" lIns="0" tIns="0" rIns="0" bIns="0" rtlCol="0" anchor="t"/>
          <a:lstStyle/>
          <a:p>
            <a:pPr marL="0" indent="0" algn="l">
              <a:lnSpc>
                <a:spcPct val="133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KHOA HỌC DỮ LIỆU · </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ct val="133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GIẢNG VIÊN HƯỚNG DẪN: THẦY NGUYỄN VĂN HUY</a:t>
            </a:r>
            <a:endParaRPr lang="en-US" sz="2000" dirty="0">
              <a:latin typeface="Times New Roman" panose="02020603050405020304" pitchFamily="18" charset="0"/>
              <a:cs typeface="Times New Roman" panose="02020603050405020304" pitchFamily="18" charset="0"/>
            </a:endParaRPr>
          </a:p>
        </p:txBody>
      </p:sp>
      <p:sp>
        <p:nvSpPr>
          <p:cNvPr id="6" name="Shape 3"/>
          <p:cNvSpPr/>
          <p:nvPr/>
        </p:nvSpPr>
        <p:spPr>
          <a:xfrm>
            <a:off x="605183" y="3530600"/>
            <a:ext cx="3110169" cy="1089124"/>
          </a:xfrm>
          <a:prstGeom prst="roundRect">
            <a:avLst>
              <a:gd name="adj" fmla="val 2603"/>
            </a:avLst>
          </a:prstGeom>
          <a:solidFill>
            <a:srgbClr val="E9ECF2"/>
          </a:solidFill>
          <a:ln/>
        </p:spPr>
      </p:sp>
      <p:sp>
        <p:nvSpPr>
          <p:cNvPr id="7" name="Text 4"/>
          <p:cNvSpPr/>
          <p:nvPr/>
        </p:nvSpPr>
        <p:spPr>
          <a:xfrm>
            <a:off x="806932" y="3719612"/>
            <a:ext cx="2406188" cy="295275"/>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Sinh viên thực hiện</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801158" y="4128294"/>
            <a:ext cx="2725187" cy="302419"/>
          </a:xfrm>
          <a:prstGeom prst="rect">
            <a:avLst/>
          </a:prstGeom>
          <a:noFill/>
          <a:ln/>
        </p:spPr>
        <p:txBody>
          <a:bodyPr wrap="none" lIns="0" tIns="0" rIns="0" bIns="0" rtlCol="0" anchor="t"/>
          <a:lstStyle/>
          <a:p>
            <a:pPr marL="0" indent="0" algn="l">
              <a:lnSpc>
                <a:spcPct val="133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Ngô Thị Hiền</a:t>
            </a:r>
            <a:endParaRPr lang="en-US" sz="2000" dirty="0">
              <a:latin typeface="Times New Roman" panose="02020603050405020304" pitchFamily="18" charset="0"/>
              <a:cs typeface="Times New Roman" panose="02020603050405020304" pitchFamily="18" charset="0"/>
            </a:endParaRPr>
          </a:p>
        </p:txBody>
      </p:sp>
      <p:sp>
        <p:nvSpPr>
          <p:cNvPr id="9" name="Shape 6"/>
          <p:cNvSpPr/>
          <p:nvPr/>
        </p:nvSpPr>
        <p:spPr>
          <a:xfrm>
            <a:off x="3848065" y="3530600"/>
            <a:ext cx="3110270" cy="1089124"/>
          </a:xfrm>
          <a:prstGeom prst="roundRect">
            <a:avLst>
              <a:gd name="adj" fmla="val 2603"/>
            </a:avLst>
          </a:prstGeom>
          <a:solidFill>
            <a:srgbClr val="E9ECF2"/>
          </a:solidFill>
          <a:ln/>
        </p:spPr>
      </p:sp>
      <p:sp>
        <p:nvSpPr>
          <p:cNvPr id="10" name="Text 7"/>
          <p:cNvSpPr/>
          <p:nvPr/>
        </p:nvSpPr>
        <p:spPr>
          <a:xfrm>
            <a:off x="4049816" y="3719612"/>
            <a:ext cx="2406188" cy="295275"/>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Lớp</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4044040" y="4128294"/>
            <a:ext cx="2725288" cy="302419"/>
          </a:xfrm>
          <a:prstGeom prst="rect">
            <a:avLst/>
          </a:prstGeom>
          <a:noFill/>
          <a:ln/>
        </p:spPr>
        <p:txBody>
          <a:bodyPr wrap="none" lIns="0" tIns="0" rIns="0" bIns="0" rtlCol="0" anchor="t"/>
          <a:lstStyle/>
          <a:p>
            <a:pPr marL="0" indent="0" algn="l">
              <a:lnSpc>
                <a:spcPct val="133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K58KTP</a:t>
            </a:r>
            <a:endParaRPr lang="en-US" sz="2000" dirty="0">
              <a:latin typeface="Times New Roman" panose="02020603050405020304" pitchFamily="18" charset="0"/>
              <a:cs typeface="Times New Roman" panose="02020603050405020304" pitchFamily="18" charset="0"/>
            </a:endParaRPr>
          </a:p>
        </p:txBody>
      </p:sp>
      <p:sp>
        <p:nvSpPr>
          <p:cNvPr id="12" name="Shape 9"/>
          <p:cNvSpPr/>
          <p:nvPr/>
        </p:nvSpPr>
        <p:spPr>
          <a:xfrm>
            <a:off x="545404" y="4808736"/>
            <a:ext cx="6412931" cy="1089124"/>
          </a:xfrm>
          <a:prstGeom prst="roundRect">
            <a:avLst>
              <a:gd name="adj" fmla="val 2603"/>
            </a:avLst>
          </a:prstGeom>
          <a:solidFill>
            <a:srgbClr val="E9ECF2"/>
          </a:solidFill>
          <a:ln/>
        </p:spPr>
        <p:txBody>
          <a:bodyPr/>
          <a:lstStyle/>
          <a:p>
            <a:endParaRPr lang="en-US" dirty="0"/>
          </a:p>
        </p:txBody>
      </p:sp>
      <p:sp>
        <p:nvSpPr>
          <p:cNvPr id="13" name="Text 10"/>
          <p:cNvSpPr/>
          <p:nvPr/>
        </p:nvSpPr>
        <p:spPr>
          <a:xfrm>
            <a:off x="806932" y="4997748"/>
            <a:ext cx="2406188" cy="295275"/>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MSV</a:t>
            </a:r>
            <a:endParaRPr lang="en-US" sz="2000" dirty="0">
              <a:latin typeface="Times New Roman" panose="02020603050405020304" pitchFamily="18" charset="0"/>
              <a:cs typeface="Times New Roman" panose="02020603050405020304" pitchFamily="18" charset="0"/>
            </a:endParaRPr>
          </a:p>
        </p:txBody>
      </p:sp>
      <p:sp>
        <p:nvSpPr>
          <p:cNvPr id="14" name="Text 11"/>
          <p:cNvSpPr/>
          <p:nvPr/>
        </p:nvSpPr>
        <p:spPr>
          <a:xfrm>
            <a:off x="741379" y="5406430"/>
            <a:ext cx="6027949" cy="302419"/>
          </a:xfrm>
          <a:prstGeom prst="rect">
            <a:avLst/>
          </a:prstGeom>
          <a:noFill/>
          <a:ln/>
        </p:spPr>
        <p:txBody>
          <a:bodyPr wrap="none" lIns="0" tIns="0" rIns="0" bIns="0" rtlCol="0" anchor="t"/>
          <a:lstStyle/>
          <a:p>
            <a:pPr marL="0" indent="0" algn="l">
              <a:lnSpc>
                <a:spcPct val="133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K225480106014</a:t>
            </a:r>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F8DFE8E2-D476-2B57-8316-B7C2E03BC96E}"/>
              </a:ext>
            </a:extLst>
          </p:cNvPr>
          <p:cNvPicPr>
            <a:picLocks noChangeAspect="1"/>
          </p:cNvPicPr>
          <p:nvPr/>
        </p:nvPicPr>
        <p:blipFill>
          <a:blip r:embed="rId3"/>
          <a:stretch>
            <a:fillRect/>
          </a:stretch>
        </p:blipFill>
        <p:spPr>
          <a:xfrm>
            <a:off x="7630979" y="88839"/>
            <a:ext cx="4507957" cy="6731947"/>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05516" y="585787"/>
            <a:ext cx="4154782" cy="561082"/>
          </a:xfrm>
          <a:prstGeom prst="rect">
            <a:avLst/>
          </a:prstGeom>
          <a:noFill/>
          <a:ln/>
        </p:spPr>
        <p:txBody>
          <a:bodyPr wrap="none" lIns="0" tIns="0" rIns="0" bIns="0" rtlCol="0" anchor="t"/>
          <a:lstStyle/>
          <a:p>
            <a:pPr marL="0" indent="0" algn="l">
              <a:lnSpc>
                <a:spcPct val="104000"/>
              </a:lnSpc>
              <a:buNone/>
            </a:pPr>
            <a:r>
              <a:rPr lang="en-US" sz="2200" b="1" dirty="0">
                <a:latin typeface="Times New Roman" panose="02020603050405020304" pitchFamily="18" charset="0"/>
                <a:ea typeface="Roboto Slab" pitchFamily="34" charset="-122"/>
                <a:cs typeface="Times New Roman" panose="02020603050405020304" pitchFamily="18" charset="0"/>
              </a:rPr>
              <a:t>DỮ LIỆU SỬ DỤNG</a:t>
            </a:r>
            <a:endParaRPr lang="en-US" sz="2200" b="1" dirty="0">
              <a:latin typeface="Times New Roman" panose="02020603050405020304" pitchFamily="18" charset="0"/>
              <a:cs typeface="Times New Roman" panose="02020603050405020304" pitchFamily="18" charset="0"/>
            </a:endParaRPr>
          </a:p>
        </p:txBody>
      </p:sp>
      <p:sp>
        <p:nvSpPr>
          <p:cNvPr id="4" name="Shape 1"/>
          <p:cNvSpPr/>
          <p:nvPr/>
        </p:nvSpPr>
        <p:spPr>
          <a:xfrm>
            <a:off x="5418491" y="525015"/>
            <a:ext cx="6773509" cy="570507"/>
          </a:xfrm>
          <a:prstGeom prst="roundRect">
            <a:avLst>
              <a:gd name="adj" fmla="val 6498"/>
            </a:avLst>
          </a:prstGeom>
          <a:solidFill>
            <a:srgbClr val="D7DFF4"/>
          </a:solidFill>
          <a:ln/>
        </p:spPr>
      </p:sp>
      <p:sp>
        <p:nvSpPr>
          <p:cNvPr id="5" name="Text 2"/>
          <p:cNvSpPr/>
          <p:nvPr/>
        </p:nvSpPr>
        <p:spPr>
          <a:xfrm>
            <a:off x="5582093" y="642242"/>
            <a:ext cx="3932734" cy="224036"/>
          </a:xfrm>
          <a:prstGeom prst="rect">
            <a:avLst/>
          </a:prstGeom>
          <a:noFill/>
          <a:ln/>
        </p:spPr>
        <p:txBody>
          <a:bodyPr wrap="none" lIns="0" tIns="0" rIns="0" bIns="0" rtlCol="0" anchor="t"/>
          <a:lstStyle/>
          <a:p>
            <a:pPr marL="0" indent="0" algn="l">
              <a:lnSpc>
                <a:spcPct val="130000"/>
              </a:lnSpc>
              <a:buNone/>
            </a:pP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VIETNAM PETROLEUM PRICE DATASET 2018–2026</a:t>
            </a:r>
            <a:endParaRPr lang="en-US" sz="2200" dirty="0">
              <a:latin typeface="Times New Roman" panose="02020603050405020304" pitchFamily="18" charset="0"/>
              <a:cs typeface="Times New Roman" panose="02020603050405020304" pitchFamily="18" charset="0"/>
            </a:endParaRPr>
          </a:p>
        </p:txBody>
      </p:sp>
      <p:sp>
        <p:nvSpPr>
          <p:cNvPr id="6" name="Text 3"/>
          <p:cNvSpPr/>
          <p:nvPr/>
        </p:nvSpPr>
        <p:spPr>
          <a:xfrm>
            <a:off x="5511225" y="1277045"/>
            <a:ext cx="2854154" cy="280491"/>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Times New Roman" panose="02020603050405020304" pitchFamily="18" charset="0"/>
                <a:ea typeface="Roboto Slab" pitchFamily="34" charset="-122"/>
                <a:cs typeface="Times New Roman" panose="02020603050405020304" pitchFamily="18" charset="0"/>
              </a:rPr>
              <a:t>Thông tin bộ dữ liệu</a:t>
            </a:r>
            <a:endParaRPr lang="en-US" sz="2200" dirty="0">
              <a:latin typeface="Times New Roman" panose="02020603050405020304" pitchFamily="18" charset="0"/>
              <a:cs typeface="Times New Roman" panose="02020603050405020304" pitchFamily="18" charset="0"/>
            </a:endParaRPr>
          </a:p>
        </p:txBody>
      </p:sp>
      <p:sp>
        <p:nvSpPr>
          <p:cNvPr id="7" name="Text 4"/>
          <p:cNvSpPr/>
          <p:nvPr/>
        </p:nvSpPr>
        <p:spPr>
          <a:xfrm>
            <a:off x="7850388" y="1275009"/>
            <a:ext cx="6390123" cy="292795"/>
          </a:xfrm>
          <a:prstGeom prst="rect">
            <a:avLst/>
          </a:prstGeom>
          <a:noFill/>
          <a:ln/>
        </p:spPr>
        <p:txBody>
          <a:bodyPr wrap="none" lIns="0" tIns="0" rIns="0" bIns="0" rtlCol="0" anchor="t"/>
          <a:lstStyle/>
          <a:p>
            <a:pPr marL="0" indent="0" algn="l">
              <a:lnSpc>
                <a:spcPct val="130000"/>
              </a:lnSpc>
              <a:buNone/>
            </a:pP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File: </a:t>
            </a:r>
            <a:r>
              <a:rPr lang="en-US" sz="2200" dirty="0">
                <a:solidFill>
                  <a:srgbClr val="15213F"/>
                </a:solidFill>
                <a:highlight>
                  <a:srgbClr val="EEEFF1"/>
                </a:highlight>
                <a:latin typeface="Times New Roman" panose="02020603050405020304" pitchFamily="18" charset="0"/>
                <a:ea typeface="Consolas" pitchFamily="34" charset="-122"/>
                <a:cs typeface="Times New Roman" panose="02020603050405020304" pitchFamily="18" charset="0"/>
              </a:rPr>
              <a:t>vn_fuel_price_2018_present.csv</a:t>
            </a:r>
            <a:endParaRPr lang="en-US" sz="2200" dirty="0">
              <a:latin typeface="Times New Roman" panose="02020603050405020304" pitchFamily="18" charset="0"/>
              <a:cs typeface="Times New Roman" panose="02020603050405020304" pitchFamily="18" charset="0"/>
            </a:endParaRPr>
          </a:p>
        </p:txBody>
      </p:sp>
      <p:sp>
        <p:nvSpPr>
          <p:cNvPr id="8" name="Text 5"/>
          <p:cNvSpPr/>
          <p:nvPr/>
        </p:nvSpPr>
        <p:spPr>
          <a:xfrm>
            <a:off x="5582093" y="1819324"/>
            <a:ext cx="3407794" cy="310752"/>
          </a:xfrm>
          <a:prstGeom prst="rect">
            <a:avLst/>
          </a:prstGeom>
          <a:noFill/>
          <a:ln/>
        </p:spPr>
        <p:txBody>
          <a:bodyPr wrap="none" lIns="0" tIns="0" rIns="0" bIns="0" rtlCol="0" anchor="t"/>
          <a:lstStyle/>
          <a:p>
            <a:pPr marL="0" indent="0" algn="l">
              <a:lnSpc>
                <a:spcPct val="104000"/>
              </a:lnSpc>
              <a:buNone/>
            </a:pPr>
            <a:r>
              <a:rPr lang="en-US" sz="2200" dirty="0">
                <a:solidFill>
                  <a:srgbClr val="3257B8"/>
                </a:solidFill>
                <a:latin typeface="Times New Roman" panose="02020603050405020304" pitchFamily="18" charset="0"/>
                <a:ea typeface="Roboto Slab" pitchFamily="34" charset="-122"/>
                <a:cs typeface="Times New Roman" panose="02020603050405020304" pitchFamily="18" charset="0"/>
              </a:rPr>
              <a:t>Các trường dữ liệu chính</a:t>
            </a:r>
            <a:endParaRPr lang="en-US" sz="2200" dirty="0">
              <a:latin typeface="Times New Roman" panose="02020603050405020304" pitchFamily="18" charset="0"/>
              <a:cs typeface="Times New Roman" panose="02020603050405020304" pitchFamily="18" charset="0"/>
            </a:endParaRPr>
          </a:p>
        </p:txBody>
      </p:sp>
      <p:sp>
        <p:nvSpPr>
          <p:cNvPr id="9" name="Text 6"/>
          <p:cNvSpPr/>
          <p:nvPr/>
        </p:nvSpPr>
        <p:spPr>
          <a:xfrm>
            <a:off x="6007395" y="2130076"/>
            <a:ext cx="6184605" cy="2868764"/>
          </a:xfrm>
          <a:prstGeom prst="rect">
            <a:avLst/>
          </a:prstGeom>
          <a:noFill/>
          <a:ln/>
        </p:spPr>
        <p:txBody>
          <a:bodyPr wrap="square" lIns="0" tIns="0" rIns="0" bIns="0" rtlCol="0" anchor="t">
            <a:noAutofit/>
          </a:bodyPr>
          <a:lstStyle/>
          <a:p>
            <a:pPr marL="342900" indent="-342900" algn="l">
              <a:lnSpc>
                <a:spcPct val="130000"/>
              </a:lnSpc>
              <a:buSzPct val="100000"/>
              <a:buChar char="•"/>
            </a:pPr>
            <a:r>
              <a:rPr lang="en-US" sz="2200" b="1" dirty="0">
                <a:solidFill>
                  <a:srgbClr val="15213F"/>
                </a:solidFill>
                <a:latin typeface="Times New Roman" panose="02020603050405020304" pitchFamily="18" charset="0"/>
                <a:ea typeface="Roboto" pitchFamily="34" charset="-122"/>
                <a:cs typeface="Times New Roman" panose="02020603050405020304" pitchFamily="18" charset="0"/>
              </a:rPr>
              <a:t>date</a:t>
            </a: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 — ngày ghi nhận dữ liệu</a:t>
            </a:r>
            <a:endParaRPr lang="en-US" sz="22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200" b="1" dirty="0">
                <a:solidFill>
                  <a:srgbClr val="15213F"/>
                </a:solidFill>
                <a:latin typeface="Times New Roman" panose="02020603050405020304" pitchFamily="18" charset="0"/>
                <a:ea typeface="Roboto" pitchFamily="34" charset="-122"/>
                <a:cs typeface="Times New Roman" panose="02020603050405020304" pitchFamily="18" charset="0"/>
              </a:rPr>
              <a:t>ron95_retail_price</a:t>
            </a: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 — giá bán lẻ xăng RON95</a:t>
            </a:r>
            <a:endParaRPr lang="en-US" sz="22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200" b="1" dirty="0">
                <a:solidFill>
                  <a:srgbClr val="15213F"/>
                </a:solidFill>
                <a:latin typeface="Times New Roman" panose="02020603050405020304" pitchFamily="18" charset="0"/>
                <a:ea typeface="Roboto" pitchFamily="34" charset="-122"/>
                <a:cs typeface="Times New Roman" panose="02020603050405020304" pitchFamily="18" charset="0"/>
              </a:rPr>
              <a:t>brent_usd_per_barrel</a:t>
            </a: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 — giá dầu Brent thế giới</a:t>
            </a:r>
            <a:endParaRPr lang="en-US" sz="22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200" b="1" dirty="0">
                <a:solidFill>
                  <a:srgbClr val="15213F"/>
                </a:solidFill>
                <a:latin typeface="Times New Roman" panose="02020603050405020304" pitchFamily="18" charset="0"/>
                <a:ea typeface="Roboto" pitchFamily="34" charset="-122"/>
                <a:cs typeface="Times New Roman" panose="02020603050405020304" pitchFamily="18" charset="0"/>
              </a:rPr>
              <a:t>usd_vnd</a:t>
            </a: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 — tỷ giá USD/VND</a:t>
            </a:r>
            <a:endParaRPr lang="en-US" sz="22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200" b="1" dirty="0">
                <a:solidFill>
                  <a:srgbClr val="15213F"/>
                </a:solidFill>
                <a:latin typeface="Times New Roman" panose="02020603050405020304" pitchFamily="18" charset="0"/>
                <a:ea typeface="Roboto" pitchFamily="34" charset="-122"/>
                <a:cs typeface="Times New Roman" panose="02020603050405020304" pitchFamily="18" charset="0"/>
              </a:rPr>
              <a:t>is_adjustment_day</a:t>
            </a: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 — ngày điều chỉnh giá</a:t>
            </a:r>
            <a:endParaRPr lang="en-US" sz="2200" dirty="0">
              <a:latin typeface="Times New Roman" panose="02020603050405020304" pitchFamily="18" charset="0"/>
              <a:cs typeface="Times New Roman" panose="02020603050405020304" pitchFamily="18" charset="0"/>
            </a:endParaRPr>
          </a:p>
        </p:txBody>
      </p:sp>
      <p:sp>
        <p:nvSpPr>
          <p:cNvPr id="10" name="Shape 7"/>
          <p:cNvSpPr/>
          <p:nvPr/>
        </p:nvSpPr>
        <p:spPr>
          <a:xfrm>
            <a:off x="661574" y="5250359"/>
            <a:ext cx="3509081" cy="1021854"/>
          </a:xfrm>
          <a:prstGeom prst="roundRect">
            <a:avLst>
              <a:gd name="adj" fmla="val 2636"/>
            </a:avLst>
          </a:prstGeom>
          <a:solidFill>
            <a:srgbClr val="E9ECF2"/>
          </a:solidFill>
          <a:ln/>
        </p:spPr>
        <p:txBody>
          <a:bodyPr/>
          <a:lstStyle/>
          <a:p>
            <a:endParaRPr lang="en-US" dirty="0"/>
          </a:p>
        </p:txBody>
      </p:sp>
      <p:sp>
        <p:nvSpPr>
          <p:cNvPr id="11" name="Text 8"/>
          <p:cNvSpPr/>
          <p:nvPr/>
        </p:nvSpPr>
        <p:spPr>
          <a:xfrm>
            <a:off x="841056" y="5429845"/>
            <a:ext cx="2244570" cy="280491"/>
          </a:xfrm>
          <a:prstGeom prst="rect">
            <a:avLst/>
          </a:prstGeom>
          <a:noFill/>
          <a:ln/>
        </p:spPr>
        <p:txBody>
          <a:bodyPr wrap="none" lIns="0" tIns="0" rIns="0" bIns="0" rtlCol="0" anchor="t"/>
          <a:lstStyle/>
          <a:p>
            <a:pPr marL="0" indent="0" algn="l">
              <a:lnSpc>
                <a:spcPct val="104000"/>
              </a:lnSpc>
              <a:buNone/>
            </a:pPr>
            <a:r>
              <a:rPr lang="en-US" sz="2200" dirty="0">
                <a:solidFill>
                  <a:srgbClr val="15213F"/>
                </a:solidFill>
                <a:latin typeface="Times New Roman" panose="02020603050405020304" pitchFamily="18" charset="0"/>
                <a:ea typeface="Roboto Slab" pitchFamily="34" charset="-122"/>
                <a:cs typeface="Times New Roman" panose="02020603050405020304" pitchFamily="18" charset="0"/>
              </a:rPr>
              <a:t>2.946</a:t>
            </a:r>
            <a:endParaRPr lang="en-US" sz="2200" dirty="0">
              <a:latin typeface="Times New Roman" panose="02020603050405020304" pitchFamily="18" charset="0"/>
              <a:cs typeface="Times New Roman" panose="02020603050405020304" pitchFamily="18" charset="0"/>
            </a:endParaRPr>
          </a:p>
        </p:txBody>
      </p:sp>
      <p:sp>
        <p:nvSpPr>
          <p:cNvPr id="12" name="Text 9"/>
          <p:cNvSpPr/>
          <p:nvPr/>
        </p:nvSpPr>
        <p:spPr>
          <a:xfrm>
            <a:off x="841056" y="5812631"/>
            <a:ext cx="3150117" cy="280095"/>
          </a:xfrm>
          <a:prstGeom prst="rect">
            <a:avLst/>
          </a:prstGeom>
          <a:noFill/>
          <a:ln/>
        </p:spPr>
        <p:txBody>
          <a:bodyPr wrap="none" lIns="0" tIns="0" rIns="0" bIns="0" rtlCol="0" anchor="t"/>
          <a:lstStyle/>
          <a:p>
            <a:pPr marL="0" indent="0" algn="l">
              <a:lnSpc>
                <a:spcPct val="130000"/>
              </a:lnSpc>
              <a:buNone/>
            </a:pP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Bản ghi dữ liệu</a:t>
            </a:r>
            <a:endParaRPr lang="en-US" sz="2200" dirty="0">
              <a:latin typeface="Times New Roman" panose="02020603050405020304" pitchFamily="18" charset="0"/>
              <a:cs typeface="Times New Roman" panose="02020603050405020304" pitchFamily="18" charset="0"/>
            </a:endParaRPr>
          </a:p>
        </p:txBody>
      </p:sp>
      <p:sp>
        <p:nvSpPr>
          <p:cNvPr id="13" name="Shape 10"/>
          <p:cNvSpPr/>
          <p:nvPr/>
        </p:nvSpPr>
        <p:spPr>
          <a:xfrm>
            <a:off x="4341208" y="5250359"/>
            <a:ext cx="3509180" cy="1021854"/>
          </a:xfrm>
          <a:prstGeom prst="roundRect">
            <a:avLst>
              <a:gd name="adj" fmla="val 2636"/>
            </a:avLst>
          </a:prstGeom>
          <a:solidFill>
            <a:srgbClr val="E9ECF2"/>
          </a:solidFill>
          <a:ln/>
        </p:spPr>
      </p:sp>
      <p:sp>
        <p:nvSpPr>
          <p:cNvPr id="14" name="Text 11"/>
          <p:cNvSpPr/>
          <p:nvPr/>
        </p:nvSpPr>
        <p:spPr>
          <a:xfrm>
            <a:off x="4520690" y="5429845"/>
            <a:ext cx="2244570" cy="280491"/>
          </a:xfrm>
          <a:prstGeom prst="rect">
            <a:avLst/>
          </a:prstGeom>
          <a:noFill/>
          <a:ln/>
        </p:spPr>
        <p:txBody>
          <a:bodyPr wrap="none" lIns="0" tIns="0" rIns="0" bIns="0" rtlCol="0" anchor="t"/>
          <a:lstStyle/>
          <a:p>
            <a:pPr marL="0" indent="0" algn="l">
              <a:lnSpc>
                <a:spcPct val="104000"/>
              </a:lnSpc>
              <a:buNone/>
            </a:pPr>
            <a:r>
              <a:rPr lang="en-US" sz="2200" dirty="0">
                <a:solidFill>
                  <a:srgbClr val="15213F"/>
                </a:solidFill>
                <a:latin typeface="Times New Roman" panose="02020603050405020304" pitchFamily="18" charset="0"/>
                <a:ea typeface="Roboto Slab" pitchFamily="34" charset="-122"/>
                <a:cs typeface="Times New Roman" panose="02020603050405020304" pitchFamily="18" charset="0"/>
              </a:rPr>
              <a:t>22</a:t>
            </a:r>
            <a:endParaRPr lang="en-US" sz="2200" dirty="0">
              <a:latin typeface="Times New Roman" panose="02020603050405020304" pitchFamily="18" charset="0"/>
              <a:cs typeface="Times New Roman" panose="02020603050405020304" pitchFamily="18" charset="0"/>
            </a:endParaRPr>
          </a:p>
        </p:txBody>
      </p:sp>
      <p:sp>
        <p:nvSpPr>
          <p:cNvPr id="15" name="Text 12"/>
          <p:cNvSpPr/>
          <p:nvPr/>
        </p:nvSpPr>
        <p:spPr>
          <a:xfrm>
            <a:off x="4520690" y="5812631"/>
            <a:ext cx="3150216" cy="280095"/>
          </a:xfrm>
          <a:prstGeom prst="rect">
            <a:avLst/>
          </a:prstGeom>
          <a:noFill/>
          <a:ln/>
        </p:spPr>
        <p:txBody>
          <a:bodyPr wrap="none" lIns="0" tIns="0" rIns="0" bIns="0" rtlCol="0" anchor="t"/>
          <a:lstStyle/>
          <a:p>
            <a:pPr marL="0" indent="0" algn="l">
              <a:lnSpc>
                <a:spcPct val="130000"/>
              </a:lnSpc>
              <a:buNone/>
            </a:pP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Trường dữ liệu</a:t>
            </a:r>
            <a:endParaRPr lang="en-US" sz="2200" dirty="0">
              <a:latin typeface="Times New Roman" panose="02020603050405020304" pitchFamily="18" charset="0"/>
              <a:cs typeface="Times New Roman" panose="02020603050405020304" pitchFamily="18" charset="0"/>
            </a:endParaRPr>
          </a:p>
        </p:txBody>
      </p:sp>
      <p:sp>
        <p:nvSpPr>
          <p:cNvPr id="16" name="Shape 13"/>
          <p:cNvSpPr/>
          <p:nvPr/>
        </p:nvSpPr>
        <p:spPr>
          <a:xfrm>
            <a:off x="8020941" y="5250359"/>
            <a:ext cx="3509180" cy="1021854"/>
          </a:xfrm>
          <a:prstGeom prst="roundRect">
            <a:avLst>
              <a:gd name="adj" fmla="val 2636"/>
            </a:avLst>
          </a:prstGeom>
          <a:solidFill>
            <a:srgbClr val="E9ECF2"/>
          </a:solidFill>
          <a:ln/>
        </p:spPr>
      </p:sp>
      <p:sp>
        <p:nvSpPr>
          <p:cNvPr id="17" name="Text 14"/>
          <p:cNvSpPr/>
          <p:nvPr/>
        </p:nvSpPr>
        <p:spPr>
          <a:xfrm>
            <a:off x="8200423" y="5429845"/>
            <a:ext cx="2244570" cy="280491"/>
          </a:xfrm>
          <a:prstGeom prst="rect">
            <a:avLst/>
          </a:prstGeom>
          <a:noFill/>
          <a:ln/>
        </p:spPr>
        <p:txBody>
          <a:bodyPr wrap="none" lIns="0" tIns="0" rIns="0" bIns="0" rtlCol="0" anchor="t"/>
          <a:lstStyle/>
          <a:p>
            <a:pPr marL="0" indent="0" algn="l">
              <a:lnSpc>
                <a:spcPct val="104000"/>
              </a:lnSpc>
              <a:buNone/>
            </a:pPr>
            <a:r>
              <a:rPr lang="en-US" sz="2200" dirty="0">
                <a:solidFill>
                  <a:srgbClr val="15213F"/>
                </a:solidFill>
                <a:latin typeface="Times New Roman" panose="02020603050405020304" pitchFamily="18" charset="0"/>
                <a:ea typeface="Roboto Slab" pitchFamily="34" charset="-122"/>
                <a:cs typeface="Times New Roman" panose="02020603050405020304" pitchFamily="18" charset="0"/>
              </a:rPr>
              <a:t>8 năm</a:t>
            </a:r>
            <a:endParaRPr lang="en-US" sz="2200" dirty="0">
              <a:latin typeface="Times New Roman" panose="02020603050405020304" pitchFamily="18" charset="0"/>
              <a:cs typeface="Times New Roman" panose="02020603050405020304" pitchFamily="18" charset="0"/>
            </a:endParaRPr>
          </a:p>
        </p:txBody>
      </p:sp>
      <p:sp>
        <p:nvSpPr>
          <p:cNvPr id="18" name="Text 15"/>
          <p:cNvSpPr/>
          <p:nvPr/>
        </p:nvSpPr>
        <p:spPr>
          <a:xfrm>
            <a:off x="8200423" y="5812631"/>
            <a:ext cx="3150216" cy="280095"/>
          </a:xfrm>
          <a:prstGeom prst="rect">
            <a:avLst/>
          </a:prstGeom>
          <a:noFill/>
          <a:ln/>
        </p:spPr>
        <p:txBody>
          <a:bodyPr wrap="none" lIns="0" tIns="0" rIns="0" bIns="0" rtlCol="0" anchor="t"/>
          <a:lstStyle/>
          <a:p>
            <a:pPr marL="0" indent="0" algn="l">
              <a:lnSpc>
                <a:spcPct val="130000"/>
              </a:lnSpc>
              <a:buNone/>
            </a:pPr>
            <a:r>
              <a:rPr lang="en-US" sz="2200" dirty="0">
                <a:solidFill>
                  <a:srgbClr val="15213F"/>
                </a:solidFill>
                <a:latin typeface="Times New Roman" panose="02020603050405020304" pitchFamily="18" charset="0"/>
                <a:ea typeface="Roboto" pitchFamily="34" charset="-122"/>
                <a:cs typeface="Times New Roman" panose="02020603050405020304" pitchFamily="18" charset="0"/>
              </a:rPr>
              <a:t>08/2018 – 05/2026</a:t>
            </a:r>
            <a:endParaRPr lang="en-US" sz="220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853AE0FE-E6C4-358E-8CB1-1533315C571E}"/>
              </a:ext>
            </a:extLst>
          </p:cNvPr>
          <p:cNvPicPr>
            <a:picLocks noChangeAspect="1"/>
          </p:cNvPicPr>
          <p:nvPr/>
        </p:nvPicPr>
        <p:blipFill>
          <a:blip r:embed="rId3"/>
          <a:stretch>
            <a:fillRect/>
          </a:stretch>
        </p:blipFill>
        <p:spPr>
          <a:xfrm>
            <a:off x="786888" y="1146869"/>
            <a:ext cx="3733802" cy="3764559"/>
          </a:xfrm>
          <a:prstGeom prst="rect">
            <a:avLst/>
          </a:prstGeom>
          <a:ln>
            <a:noFill/>
          </a:ln>
          <a:effectLst>
            <a:softEdge rad="112500"/>
          </a:effectLst>
        </p:spPr>
      </p:pic>
      <p:pic>
        <p:nvPicPr>
          <p:cNvPr id="24" name="Picture 23">
            <a:extLst>
              <a:ext uri="{FF2B5EF4-FFF2-40B4-BE49-F238E27FC236}">
                <a16:creationId xmlns:a16="http://schemas.microsoft.com/office/drawing/2014/main" id="{3EE9497E-1B9D-C9DA-34A9-3D79A220EC74}"/>
              </a:ext>
            </a:extLst>
          </p:cNvPr>
          <p:cNvPicPr>
            <a:picLocks noChangeAspect="1"/>
          </p:cNvPicPr>
          <p:nvPr/>
        </p:nvPicPr>
        <p:blipFill>
          <a:blip r:embed="rId4"/>
          <a:stretch>
            <a:fillRect/>
          </a:stretch>
        </p:blipFill>
        <p:spPr>
          <a:xfrm>
            <a:off x="10929381" y="6347939"/>
            <a:ext cx="1201479" cy="5100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5935" y="287079"/>
            <a:ext cx="5088129" cy="657781"/>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GIỚI THIỆU ĐỀ TÀI</a:t>
            </a:r>
            <a:endParaRPr lang="en-US" sz="2000" b="1" dirty="0">
              <a:latin typeface="Times New Roman" panose="02020603050405020304" pitchFamily="18" charset="0"/>
              <a:cs typeface="Times New Roman" panose="02020603050405020304" pitchFamily="18" charset="0"/>
            </a:endParaRPr>
          </a:p>
        </p:txBody>
      </p:sp>
      <p:sp>
        <p:nvSpPr>
          <p:cNvPr id="3" name="Text 1"/>
          <p:cNvSpPr/>
          <p:nvPr/>
        </p:nvSpPr>
        <p:spPr>
          <a:xfrm>
            <a:off x="661574" y="1059557"/>
            <a:ext cx="10868547" cy="1008757"/>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Đề tài thực hiện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phân tích dữ liệu giá xăng RON95 tại Việt Nam</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trong giai đoạn 2018–2026, kết hợp các kỹ thuật khoa học dữ liệu để khám phá xu hướng, biến động và dự báo giá nhiên liệu.</a:t>
            </a:r>
            <a:endParaRPr lang="en-US" sz="20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2240558"/>
            <a:ext cx="5357678" cy="1746151"/>
          </a:xfrm>
          <a:prstGeom prst="rect">
            <a:avLst/>
          </a:prstGeom>
        </p:spPr>
      </p:pic>
      <p:sp>
        <p:nvSpPr>
          <p:cNvPr id="5" name="Text 2"/>
          <p:cNvSpPr/>
          <p:nvPr/>
        </p:nvSpPr>
        <p:spPr>
          <a:xfrm>
            <a:off x="3212821" y="235525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p:txBody>
      </p:sp>
      <p:sp>
        <p:nvSpPr>
          <p:cNvPr id="6" name="Text 3"/>
          <p:cNvSpPr/>
          <p:nvPr/>
        </p:nvSpPr>
        <p:spPr>
          <a:xfrm>
            <a:off x="850680" y="2922984"/>
            <a:ext cx="2126403" cy="265708"/>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Đọc &amp; Xử lý Dữ Liệu</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850680" y="3280470"/>
            <a:ext cx="4979466" cy="517128"/>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Đọc và xử lý dữ liệu giá xăng dầu Việt Nam từ nguồn dữ liệu thực tế.</a:t>
            </a:r>
            <a:endParaRPr lang="en-US" sz="2000" dirty="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2343" y="2240558"/>
            <a:ext cx="5357778" cy="1746151"/>
          </a:xfrm>
          <a:prstGeom prst="rect">
            <a:avLst/>
          </a:prstGeom>
        </p:spPr>
      </p:pic>
      <p:sp>
        <p:nvSpPr>
          <p:cNvPr id="9" name="Text 5"/>
          <p:cNvSpPr/>
          <p:nvPr/>
        </p:nvSpPr>
        <p:spPr>
          <a:xfrm>
            <a:off x="8723690" y="2355255"/>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10" name="Text 6"/>
          <p:cNvSpPr/>
          <p:nvPr/>
        </p:nvSpPr>
        <p:spPr>
          <a:xfrm>
            <a:off x="6361449" y="2806995"/>
            <a:ext cx="2126403" cy="381697"/>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Phân Tích Thời Gian</a:t>
            </a:r>
            <a:endParaRPr lang="en-US" sz="2000" dirty="0">
              <a:latin typeface="Times New Roman" panose="02020603050405020304" pitchFamily="18" charset="0"/>
              <a:cs typeface="Times New Roman" panose="02020603050405020304" pitchFamily="18" charset="0"/>
            </a:endParaRPr>
          </a:p>
        </p:txBody>
      </p:sp>
      <p:sp>
        <p:nvSpPr>
          <p:cNvPr id="11" name="Text 7"/>
          <p:cNvSpPr/>
          <p:nvPr/>
        </p:nvSpPr>
        <p:spPr>
          <a:xfrm>
            <a:off x="6283843" y="3188692"/>
            <a:ext cx="5057172" cy="608906"/>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Phân tích giá RON95 theo thời gian, xác định các mốc giá cao nhất, trung bình theo tháng và năm.</a:t>
            </a:r>
            <a:endParaRPr lang="en-US" sz="2000" dirty="0">
              <a:latin typeface="Times New Roman" panose="02020603050405020304" pitchFamily="18" charset="0"/>
              <a:cs typeface="Times New Roman" panose="02020603050405020304" pitchFamily="18"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574" y="4139803"/>
            <a:ext cx="5357678" cy="2004715"/>
          </a:xfrm>
          <a:prstGeom prst="rect">
            <a:avLst/>
          </a:prstGeom>
        </p:spPr>
      </p:pic>
      <p:sp>
        <p:nvSpPr>
          <p:cNvPr id="13" name="Text 8"/>
          <p:cNvSpPr/>
          <p:nvPr/>
        </p:nvSpPr>
        <p:spPr>
          <a:xfrm>
            <a:off x="3212821" y="4254500"/>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3</a:t>
            </a:r>
            <a:endParaRPr lang="en-US" sz="2000" dirty="0">
              <a:latin typeface="Times New Roman" panose="02020603050405020304" pitchFamily="18" charset="0"/>
              <a:cs typeface="Times New Roman" panose="02020603050405020304" pitchFamily="18" charset="0"/>
            </a:endParaRPr>
          </a:p>
        </p:txBody>
      </p:sp>
      <p:sp>
        <p:nvSpPr>
          <p:cNvPr id="14" name="Text 9"/>
          <p:cNvSpPr/>
          <p:nvPr/>
        </p:nvSpPr>
        <p:spPr>
          <a:xfrm>
            <a:off x="850680" y="4822230"/>
            <a:ext cx="2126403" cy="265708"/>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Mối Liên Hệ Brent</a:t>
            </a:r>
            <a:endParaRPr lang="en-US" sz="2000" dirty="0">
              <a:latin typeface="Times New Roman" panose="02020603050405020304" pitchFamily="18" charset="0"/>
              <a:cs typeface="Times New Roman" panose="02020603050405020304" pitchFamily="18" charset="0"/>
            </a:endParaRPr>
          </a:p>
        </p:txBody>
      </p:sp>
      <p:sp>
        <p:nvSpPr>
          <p:cNvPr id="15" name="Text 10"/>
          <p:cNvSpPr/>
          <p:nvPr/>
        </p:nvSpPr>
        <p:spPr>
          <a:xfrm>
            <a:off x="850680" y="5179715"/>
            <a:ext cx="4979466" cy="517128"/>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Phân tích mối liên hệ giữa giá dầu Brent thế giới và giá RON95 trong nước.</a:t>
            </a:r>
            <a:endParaRPr lang="en-US" sz="2000" dirty="0">
              <a:latin typeface="Times New Roman" panose="02020603050405020304" pitchFamily="18" charset="0"/>
              <a:cs typeface="Times New Roman" panose="02020603050405020304" pitchFamily="18" charset="0"/>
            </a:endParaRPr>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2343" y="4139803"/>
            <a:ext cx="5357778" cy="2004715"/>
          </a:xfrm>
          <a:prstGeom prst="rect">
            <a:avLst/>
          </a:prstGeom>
        </p:spPr>
      </p:pic>
      <p:sp>
        <p:nvSpPr>
          <p:cNvPr id="17" name="Text 11"/>
          <p:cNvSpPr/>
          <p:nvPr/>
        </p:nvSpPr>
        <p:spPr>
          <a:xfrm>
            <a:off x="8723690" y="4254500"/>
            <a:ext cx="255085" cy="318889"/>
          </a:xfrm>
          <a:prstGeom prst="rect">
            <a:avLst/>
          </a:prstGeom>
          <a:noFill/>
          <a:ln/>
        </p:spPr>
        <p:txBody>
          <a:bodyPr wrap="none" lIns="0" tIns="0" rIns="0" bIns="0" rtlCol="0" anchor="ctr"/>
          <a:lstStyle/>
          <a:p>
            <a:pPr marL="0" indent="0" algn="ctr">
              <a:lnSpc>
                <a:spcPct val="100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4</a:t>
            </a:r>
            <a:endParaRPr lang="en-US" sz="2000" dirty="0">
              <a:latin typeface="Times New Roman" panose="02020603050405020304" pitchFamily="18" charset="0"/>
              <a:cs typeface="Times New Roman" panose="02020603050405020304" pitchFamily="18" charset="0"/>
            </a:endParaRPr>
          </a:p>
        </p:txBody>
      </p:sp>
      <p:sp>
        <p:nvSpPr>
          <p:cNvPr id="18" name="Text 12"/>
          <p:cNvSpPr/>
          <p:nvPr/>
        </p:nvSpPr>
        <p:spPr>
          <a:xfrm>
            <a:off x="6361449" y="4669135"/>
            <a:ext cx="2126403" cy="418803"/>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Biến Động &amp; Dự Đoán</a:t>
            </a:r>
            <a:endParaRPr lang="en-US" sz="2000" dirty="0">
              <a:latin typeface="Times New Roman" panose="02020603050405020304" pitchFamily="18" charset="0"/>
              <a:cs typeface="Times New Roman" panose="02020603050405020304" pitchFamily="18" charset="0"/>
            </a:endParaRPr>
          </a:p>
        </p:txBody>
      </p:sp>
      <p:sp>
        <p:nvSpPr>
          <p:cNvPr id="19" name="Text 13"/>
          <p:cNvSpPr/>
          <p:nvPr/>
        </p:nvSpPr>
        <p:spPr>
          <a:xfrm>
            <a:off x="6208357" y="4946650"/>
            <a:ext cx="5474855" cy="1008757"/>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Tìm giai đoạn giá biến động mạnh nhất, dự đoán giá RON95 06 tháng cuối năm 2027 và phân nhóm giá thành thấp, trung bình, cao.</a:t>
            </a:r>
            <a:endParaRPr lang="en-US" sz="20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0F8B2DED-F73E-FFAE-8E96-7ECCD843630B}"/>
              </a:ext>
            </a:extLst>
          </p:cNvPr>
          <p:cNvPicPr>
            <a:picLocks noChangeAspect="1"/>
          </p:cNvPicPr>
          <p:nvPr/>
        </p:nvPicPr>
        <p:blipFill>
          <a:blip r:embed="rId5"/>
          <a:stretch>
            <a:fillRect/>
          </a:stretch>
        </p:blipFill>
        <p:spPr>
          <a:xfrm>
            <a:off x="10929381" y="6347939"/>
            <a:ext cx="1201479" cy="5100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574" y="352009"/>
            <a:ext cx="2241114" cy="351731"/>
          </a:xfrm>
          <a:prstGeom prst="roundRect">
            <a:avLst>
              <a:gd name="adj" fmla="val 6981"/>
            </a:avLst>
          </a:prstGeom>
          <a:solidFill>
            <a:srgbClr val="D7DFF4"/>
          </a:solidFill>
          <a:ln/>
        </p:spPr>
      </p:sp>
      <p:sp>
        <p:nvSpPr>
          <p:cNvPr id="3" name="Text 1"/>
          <p:cNvSpPr/>
          <p:nvPr/>
        </p:nvSpPr>
        <p:spPr>
          <a:xfrm>
            <a:off x="661574" y="305494"/>
            <a:ext cx="1606311" cy="576263"/>
          </a:xfrm>
          <a:prstGeom prst="rect">
            <a:avLst/>
          </a:prstGeom>
          <a:noFill/>
          <a:ln/>
        </p:spPr>
        <p:txBody>
          <a:bodyPr wrap="none" lIns="0" tIns="0" rIns="0" bIns="0" rtlCol="0" anchor="t"/>
          <a:lstStyle/>
          <a:p>
            <a:pPr marL="0" indent="0" algn="l">
              <a:lnSpc>
                <a:spcPct val="117000"/>
              </a:lnSpc>
              <a:buNone/>
            </a:pPr>
            <a:r>
              <a:rPr lang="en-US" sz="2000" b="1" dirty="0">
                <a:latin typeface="Times New Roman" panose="02020603050405020304" pitchFamily="18" charset="0"/>
                <a:ea typeface="Roboto" pitchFamily="34" charset="-122"/>
                <a:cs typeface="Times New Roman" panose="02020603050405020304" pitchFamily="18" charset="0"/>
              </a:rPr>
              <a:t>CÂU 1 — KẾT QUẢ</a:t>
            </a:r>
            <a:endParaRPr lang="en-US" sz="2000" b="1" dirty="0">
              <a:latin typeface="Times New Roman" panose="02020603050405020304" pitchFamily="18" charset="0"/>
              <a:cs typeface="Times New Roman" panose="02020603050405020304" pitchFamily="18" charset="0"/>
            </a:endParaRPr>
          </a:p>
        </p:txBody>
      </p:sp>
      <p:sp>
        <p:nvSpPr>
          <p:cNvPr id="4" name="Text 2"/>
          <p:cNvSpPr/>
          <p:nvPr/>
        </p:nvSpPr>
        <p:spPr>
          <a:xfrm>
            <a:off x="661574" y="966688"/>
            <a:ext cx="5379208" cy="443012"/>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Kết Quả Giá RON95 Cao Nhất</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151008" y="1759545"/>
            <a:ext cx="2936603" cy="46781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32.873</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733308" y="2377877"/>
            <a:ext cx="1772003" cy="221456"/>
          </a:xfrm>
          <a:prstGeom prst="rect">
            <a:avLst/>
          </a:prstGeom>
          <a:noFill/>
          <a:ln/>
        </p:spPr>
        <p:txBody>
          <a:bodyPr wrap="none" lIns="0" tIns="0" rIns="0" bIns="0" rtlCol="0" anchor="t"/>
          <a:lstStyle/>
          <a:p>
            <a:pPr marL="0" indent="0" algn="ctr">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VND/lít</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661574" y="2705596"/>
            <a:ext cx="3915570" cy="198438"/>
          </a:xfrm>
          <a:prstGeom prst="rect">
            <a:avLst/>
          </a:prstGeom>
          <a:noFill/>
          <a:ln/>
        </p:spPr>
        <p:txBody>
          <a:bodyPr wrap="none" lIns="0" tIns="0" rIns="0" bIns="0" rtlCol="0" anchor="t"/>
          <a:lstStyle/>
          <a:p>
            <a:pPr marL="0" indent="0" algn="ctr">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RON95 cao nhất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151008" y="3187502"/>
            <a:ext cx="2936603" cy="467816"/>
          </a:xfrm>
          <a:prstGeom prst="rect">
            <a:avLst/>
          </a:prstGeom>
          <a:noFill/>
          <a:ln/>
        </p:spPr>
        <p:txBody>
          <a:bodyPr wrap="none" lIns="0" tIns="0" rIns="0" bIns="0" rtlCol="0" anchor="t"/>
          <a:lstStyle/>
          <a:p>
            <a:pPr marL="0" indent="0" algn="ctr">
              <a:lnSpc>
                <a:spcPct val="83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10</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1733308" y="3805833"/>
            <a:ext cx="1772003" cy="221456"/>
          </a:xfrm>
          <a:prstGeom prst="rect">
            <a:avLst/>
          </a:prstGeom>
          <a:noFill/>
          <a:ln/>
        </p:spPr>
        <p:txBody>
          <a:bodyPr wrap="none" lIns="0" tIns="0" rIns="0" bIns="0" rtlCol="0" anchor="t"/>
          <a:lstStyle/>
          <a:p>
            <a:pPr marL="0" indent="0" algn="ctr">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Ngày duy trì</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61574" y="4133552"/>
            <a:ext cx="3915570" cy="198438"/>
          </a:xfrm>
          <a:prstGeom prst="rect">
            <a:avLst/>
          </a:prstGeom>
          <a:noFill/>
          <a:ln/>
        </p:spPr>
        <p:txBody>
          <a:bodyPr wrap="none" lIns="0" tIns="0" rIns="0" bIns="0" rtlCol="0" anchor="t"/>
          <a:lstStyle/>
          <a:p>
            <a:pPr marL="0" indent="0" algn="ctr">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Từ 21/06 đến 30/06/2022</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4910312" y="1188194"/>
            <a:ext cx="19050" cy="683816"/>
          </a:xfrm>
          <a:prstGeom prst="roundRect">
            <a:avLst>
              <a:gd name="adj" fmla="val 59999"/>
            </a:avLst>
          </a:prstGeom>
          <a:solidFill>
            <a:srgbClr val="3257B8"/>
          </a:solidFill>
          <a:ln/>
        </p:spPr>
      </p:sp>
      <p:sp>
        <p:nvSpPr>
          <p:cNvPr id="12" name="Text 10"/>
          <p:cNvSpPr/>
          <p:nvPr/>
        </p:nvSpPr>
        <p:spPr>
          <a:xfrm>
            <a:off x="5180082" y="881757"/>
            <a:ext cx="6356289" cy="1395115"/>
          </a:xfrm>
          <a:prstGeom prst="rect">
            <a:avLst/>
          </a:prstGeom>
          <a:noFill/>
          <a:ln/>
        </p:spPr>
        <p:txBody>
          <a:bodyPr wrap="square" lIns="0" tIns="0" rIns="0" bIns="0" rtlCol="0" anchor="t"/>
          <a:lstStyle/>
          <a:p>
            <a:pPr marL="0" indent="0" algn="l">
              <a:lnSpc>
                <a:spcPct val="117000"/>
              </a:lnSpc>
              <a:spcAft>
                <a:spcPts val="750"/>
              </a:spcAft>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Đây là giai đoạn giá xăng RON95 đạt mức cao nhất trong bộ dữ liệu.</a:t>
            </a:r>
            <a:endParaRPr lang="en-US" sz="2000" dirty="0">
              <a:latin typeface="Times New Roman" panose="02020603050405020304" pitchFamily="18" charset="0"/>
              <a:cs typeface="Times New Roman" panose="02020603050405020304" pitchFamily="18" charset="0"/>
            </a:endParaRPr>
          </a:p>
          <a:p>
            <a:pPr marL="0" indent="0" algn="l">
              <a:lnSpc>
                <a:spcPct val="117000"/>
              </a:lnSpc>
              <a:buNone/>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Năm 2022</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là giai đoạn giá xăng tăng nổi bật.</a:t>
            </a:r>
            <a:endParaRPr lang="en-US" sz="2000" dirty="0">
              <a:latin typeface="Times New Roman" panose="02020603050405020304" pitchFamily="18" charset="0"/>
              <a:cs typeface="Times New Roman" panose="02020603050405020304" pitchFamily="18" charset="0"/>
            </a:endParaRPr>
          </a:p>
        </p:txBody>
      </p:sp>
      <p:pic>
        <p:nvPicPr>
          <p:cNvPr id="14" name="Image 0" descr="preencoded.png"/>
          <p:cNvPicPr>
            <a:picLocks noChangeAspect="1"/>
          </p:cNvPicPr>
          <p:nvPr/>
        </p:nvPicPr>
        <p:blipFill>
          <a:blip r:embed="rId3"/>
          <a:stretch>
            <a:fillRect/>
          </a:stretch>
        </p:blipFill>
        <p:spPr>
          <a:xfrm>
            <a:off x="661574" y="5001022"/>
            <a:ext cx="10868547" cy="19050"/>
          </a:xfrm>
          <a:prstGeom prst="rect">
            <a:avLst/>
          </a:prstGeom>
        </p:spPr>
      </p:pic>
      <p:sp>
        <p:nvSpPr>
          <p:cNvPr id="15" name="Text 12"/>
          <p:cNvSpPr/>
          <p:nvPr/>
        </p:nvSpPr>
        <p:spPr>
          <a:xfrm>
            <a:off x="661574" y="5109964"/>
            <a:ext cx="1772003" cy="221456"/>
          </a:xfrm>
          <a:prstGeom prst="rect">
            <a:avLst/>
          </a:prstGeom>
          <a:noFill/>
          <a:ln/>
        </p:spPr>
        <p:txBody>
          <a:bodyPr wrap="none" lIns="0" tIns="0" rIns="0" bIns="0" rtlCol="0" anchor="t"/>
          <a:lstStyle/>
          <a:p>
            <a:pPr marL="0" indent="0" algn="l">
              <a:lnSpc>
                <a:spcPct val="104000"/>
              </a:lnSpc>
              <a:buNone/>
            </a:pP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Cách Thực Hiện</a:t>
            </a:r>
            <a:endParaRPr lang="en-US" sz="2000" dirty="0">
              <a:latin typeface="Times New Roman" panose="02020603050405020304" pitchFamily="18" charset="0"/>
              <a:cs typeface="Times New Roman" panose="02020603050405020304" pitchFamily="18" charset="0"/>
            </a:endParaRPr>
          </a:p>
        </p:txBody>
      </p:sp>
      <p:sp>
        <p:nvSpPr>
          <p:cNvPr id="16" name="Text 13"/>
          <p:cNvSpPr/>
          <p:nvPr/>
        </p:nvSpPr>
        <p:spPr>
          <a:xfrm>
            <a:off x="661574" y="5395119"/>
            <a:ext cx="10868547" cy="676077"/>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Lấy giá trị lớn nhất của cột </a:t>
            </a:r>
            <a:r>
              <a:rPr lang="en-US" sz="2000" dirty="0">
                <a:solidFill>
                  <a:srgbClr val="15213F"/>
                </a:solidFill>
                <a:highlight>
                  <a:srgbClr val="EEEFF1"/>
                </a:highlight>
                <a:latin typeface="Times New Roman" panose="02020603050405020304" pitchFamily="18" charset="0"/>
                <a:ea typeface="Consolas" pitchFamily="34" charset="-122"/>
                <a:cs typeface="Times New Roman" panose="02020603050405020304" pitchFamily="18" charset="0"/>
              </a:rPr>
              <a:t>gia_ron95</a:t>
            </a:r>
            <a:endParaRPr lang="en-US" sz="20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Lọc các ngày có giá bằng mức cao nhất</a:t>
            </a:r>
            <a:endParaRPr lang="en-US" sz="20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Xác định ngày bắt đầu, ngày kết thúc và số ngày duy trì mức giá cao nhất</a:t>
            </a:r>
            <a:endParaRPr lang="en-US" sz="20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BD5BA118-08F1-8F39-9A76-6DA8618290AE}"/>
              </a:ext>
            </a:extLst>
          </p:cNvPr>
          <p:cNvPicPr>
            <a:picLocks noChangeAspect="1"/>
          </p:cNvPicPr>
          <p:nvPr/>
        </p:nvPicPr>
        <p:blipFill>
          <a:blip r:embed="rId4"/>
          <a:stretch>
            <a:fillRect/>
          </a:stretch>
        </p:blipFill>
        <p:spPr>
          <a:xfrm>
            <a:off x="4553537" y="2237879"/>
            <a:ext cx="7609377" cy="3135908"/>
          </a:xfrm>
          <a:prstGeom prst="rect">
            <a:avLst/>
          </a:prstGeom>
        </p:spPr>
      </p:pic>
      <p:pic>
        <p:nvPicPr>
          <p:cNvPr id="21" name="Picture 20">
            <a:extLst>
              <a:ext uri="{FF2B5EF4-FFF2-40B4-BE49-F238E27FC236}">
                <a16:creationId xmlns:a16="http://schemas.microsoft.com/office/drawing/2014/main" id="{338A2C88-AC9B-4C25-A63D-DB3144551E37}"/>
              </a:ext>
            </a:extLst>
          </p:cNvPr>
          <p:cNvPicPr>
            <a:picLocks noChangeAspect="1"/>
          </p:cNvPicPr>
          <p:nvPr/>
        </p:nvPicPr>
        <p:blipFill>
          <a:blip r:embed="rId5"/>
          <a:stretch>
            <a:fillRect/>
          </a:stretch>
        </p:blipFill>
        <p:spPr>
          <a:xfrm>
            <a:off x="10929381" y="6347939"/>
            <a:ext cx="1201479" cy="5100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7267" y="355419"/>
            <a:ext cx="610676" cy="331589"/>
          </a:xfrm>
          <a:prstGeom prst="roundRect">
            <a:avLst>
              <a:gd name="adj" fmla="val 6498"/>
            </a:avLst>
          </a:prstGeom>
          <a:solidFill>
            <a:srgbClr val="D7DFF4"/>
          </a:solidFill>
          <a:ln/>
        </p:spPr>
      </p:sp>
      <p:sp>
        <p:nvSpPr>
          <p:cNvPr id="3" name="Text 1"/>
          <p:cNvSpPr/>
          <p:nvPr/>
        </p:nvSpPr>
        <p:spPr>
          <a:xfrm>
            <a:off x="661574" y="326232"/>
            <a:ext cx="1112612" cy="561181"/>
          </a:xfrm>
          <a:prstGeom prst="rect">
            <a:avLst/>
          </a:prstGeom>
          <a:noFill/>
          <a:ln/>
        </p:spPr>
        <p:txBody>
          <a:bodyPr wrap="none" lIns="0" tIns="0" rIns="0" bIns="0" rtlCol="0" anchor="t"/>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2</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1463636" y="355420"/>
            <a:ext cx="5720713" cy="1215114"/>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GIÁ TRUNG BÌNH THEO THÁNG</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329610" y="837261"/>
            <a:ext cx="10526234" cy="1269254"/>
          </a:xfrm>
          <a:prstGeom prst="rect">
            <a:avLst/>
          </a:prstGeom>
          <a:noFill/>
          <a:ln/>
        </p:spPr>
        <p:txBody>
          <a:bodyPr wrap="none" lIns="0" tIns="0" rIns="0" bIns="0" rtlCol="0" anchor="t"/>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Nhóm dữ liệu theo tháng, tính giá RON95 trung bình của từng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tháng</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ct val="130000"/>
              </a:lnSpc>
              <a:buNone/>
            </a:pP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và</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so sánh để tìm tháng có giá cao nhất và thấp nhất.</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6602819" y="1480197"/>
            <a:ext cx="2572602" cy="1269253"/>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Kết Quả</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6714671" y="1898247"/>
            <a:ext cx="5215204" cy="619820"/>
          </a:xfrm>
          <a:prstGeom prst="rect">
            <a:avLst/>
          </a:prstGeom>
          <a:noFill/>
          <a:ln/>
        </p:spPr>
        <p:txBody>
          <a:bodyPr wrap="square" lIns="0" tIns="0" rIns="0" bIns="0" rtlCol="0" anchor="t">
            <a:noAutofit/>
          </a:bodyPr>
          <a:lstStyle/>
          <a:p>
            <a:pPr marL="342900" indent="-342900" algn="l">
              <a:lnSpc>
                <a:spcPct val="130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Tháng cao nhất:</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Tháng 3 — khoảng </a:t>
            </a:r>
            <a:r>
              <a:rPr lang="en-US" sz="2000" dirty="0">
                <a:solidFill>
                  <a:srgbClr val="3257B8"/>
                </a:solidFill>
                <a:latin typeface="Times New Roman" panose="02020603050405020304" pitchFamily="18" charset="0"/>
                <a:ea typeface="Roboto" pitchFamily="34" charset="-122"/>
                <a:cs typeface="Times New Roman" panose="02020603050405020304" pitchFamily="18" charset="0"/>
              </a:rPr>
              <a:t>22.342 VND/lít</a:t>
            </a:r>
            <a:endParaRPr lang="en-US" sz="20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Tháng thấp nhất:</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Tháng 12 — khoảng </a:t>
            </a:r>
            <a:r>
              <a:rPr lang="en-US" sz="2000" dirty="0">
                <a:solidFill>
                  <a:srgbClr val="3257B8"/>
                </a:solidFill>
                <a:latin typeface="Times New Roman" panose="02020603050405020304" pitchFamily="18" charset="0"/>
                <a:ea typeface="Roboto" pitchFamily="34" charset="-122"/>
                <a:cs typeface="Times New Roman" panose="02020603050405020304" pitchFamily="18" charset="0"/>
              </a:rPr>
              <a:t>20.701 VND/lít</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384011" y="5339902"/>
            <a:ext cx="2854154" cy="280491"/>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Nhận Xét</a:t>
            </a:r>
            <a:endParaRPr lang="en-US" sz="2000" dirty="0">
              <a:latin typeface="Times New Roman" panose="02020603050405020304" pitchFamily="18" charset="0"/>
              <a:cs typeface="Times New Roman" panose="02020603050405020304" pitchFamily="18" charset="0"/>
            </a:endParaRPr>
          </a:p>
        </p:txBody>
      </p:sp>
      <p:sp>
        <p:nvSpPr>
          <p:cNvPr id="10" name="Text 7"/>
          <p:cNvSpPr/>
          <p:nvPr/>
        </p:nvSpPr>
        <p:spPr>
          <a:xfrm>
            <a:off x="757267" y="5937070"/>
            <a:ext cx="10155689" cy="840284"/>
          </a:xfrm>
          <a:prstGeom prst="rect">
            <a:avLst/>
          </a:prstGeom>
          <a:noFill/>
          <a:ln/>
        </p:spPr>
        <p:txBody>
          <a:bodyPr wrap="square" lIns="0" tIns="0" rIns="0" bIns="0" rtlCol="0" anchor="t">
            <a:noAutofit/>
          </a:bodyPr>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RON95 trung bình có sự chênh lệch giữa các tháng. </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ct val="130000"/>
              </a:lnSpc>
              <a:buNone/>
            </a:pP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Việc</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phân tích theo tháng giúp dễ nhận biết tháng nào thường có mức giá cao hơn.</a:t>
            </a:r>
            <a:endParaRPr lang="en-US"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98AF0F2-06B3-CF6B-CED7-0E1A15E57F09}"/>
              </a:ext>
            </a:extLst>
          </p:cNvPr>
          <p:cNvPicPr>
            <a:picLocks noChangeAspect="1"/>
          </p:cNvPicPr>
          <p:nvPr/>
        </p:nvPicPr>
        <p:blipFill>
          <a:blip r:embed="rId3"/>
          <a:stretch>
            <a:fillRect/>
          </a:stretch>
        </p:blipFill>
        <p:spPr>
          <a:xfrm>
            <a:off x="96796" y="2106514"/>
            <a:ext cx="6282739" cy="3112783"/>
          </a:xfrm>
          <a:prstGeom prst="rect">
            <a:avLst/>
          </a:prstGeom>
        </p:spPr>
      </p:pic>
      <p:pic>
        <p:nvPicPr>
          <p:cNvPr id="13" name="Picture 12">
            <a:extLst>
              <a:ext uri="{FF2B5EF4-FFF2-40B4-BE49-F238E27FC236}">
                <a16:creationId xmlns:a16="http://schemas.microsoft.com/office/drawing/2014/main" id="{F61EFA66-82E8-F99B-E69E-D02FA28D5411}"/>
              </a:ext>
            </a:extLst>
          </p:cNvPr>
          <p:cNvPicPr>
            <a:picLocks noChangeAspect="1"/>
          </p:cNvPicPr>
          <p:nvPr/>
        </p:nvPicPr>
        <p:blipFill>
          <a:blip r:embed="rId4"/>
          <a:stretch>
            <a:fillRect/>
          </a:stretch>
        </p:blipFill>
        <p:spPr>
          <a:xfrm>
            <a:off x="10929381" y="6347939"/>
            <a:ext cx="1201479" cy="5100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14192" y="379807"/>
            <a:ext cx="610676" cy="331589"/>
          </a:xfrm>
          <a:prstGeom prst="roundRect">
            <a:avLst>
              <a:gd name="adj" fmla="val 6498"/>
            </a:avLst>
          </a:prstGeom>
          <a:solidFill>
            <a:srgbClr val="D7DFF4"/>
          </a:solidFill>
          <a:ln/>
        </p:spPr>
      </p:sp>
      <p:sp>
        <p:nvSpPr>
          <p:cNvPr id="3" name="Text 1"/>
          <p:cNvSpPr/>
          <p:nvPr/>
        </p:nvSpPr>
        <p:spPr>
          <a:xfrm>
            <a:off x="464431" y="336102"/>
            <a:ext cx="1004962" cy="331589"/>
          </a:xfrm>
          <a:prstGeom prst="rect">
            <a:avLst/>
          </a:prstGeom>
          <a:noFill/>
          <a:ln/>
        </p:spPr>
        <p:txBody>
          <a:bodyPr wrap="none" lIns="0" tIns="0" rIns="0" bIns="0" rtlCol="0" anchor="t"/>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3</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1244009" y="423366"/>
            <a:ext cx="5580482" cy="1147167"/>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GIÁ TRUNG BÌNH THEO NĂM</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661574" y="915670"/>
            <a:ext cx="11478132" cy="224036"/>
          </a:xfrm>
          <a:prstGeom prst="rect">
            <a:avLst/>
          </a:prstGeom>
          <a:noFill/>
          <a:ln/>
        </p:spPr>
        <p:txBody>
          <a:bodyPr wrap="none" lIns="0" tIns="0" rIns="0" bIns="0" rtlCol="0" anchor="t"/>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Nhóm dữ liệu theo năm, tính giá RON95 trung bình của từng năm và so sánh giá trung bình giữa các năm.</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6824491" y="1570533"/>
            <a:ext cx="2350930" cy="1178917"/>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Kết Quả</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7176977" y="2243470"/>
            <a:ext cx="4359494" cy="1296358"/>
          </a:xfrm>
          <a:prstGeom prst="rect">
            <a:avLst/>
          </a:prstGeom>
          <a:noFill/>
          <a:ln/>
        </p:spPr>
        <p:txBody>
          <a:bodyPr wrap="square" lIns="0" tIns="0" rIns="0" bIns="0" rtlCol="0" anchor="t">
            <a:noAutofit/>
          </a:bodyPr>
          <a:lstStyle/>
          <a:p>
            <a:pPr marL="342900" indent="-342900" algn="l">
              <a:lnSpc>
                <a:spcPct val="130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Năm cao nhất:</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2022 — khoảng </a:t>
            </a:r>
            <a:r>
              <a:rPr lang="en-US" sz="2000" dirty="0">
                <a:solidFill>
                  <a:srgbClr val="3257B8"/>
                </a:solidFill>
                <a:latin typeface="Times New Roman" panose="02020603050405020304" pitchFamily="18" charset="0"/>
                <a:ea typeface="Roboto" pitchFamily="34" charset="-122"/>
                <a:cs typeface="Times New Roman" panose="02020603050405020304" pitchFamily="18" charset="0"/>
              </a:rPr>
              <a:t>26.361 VND/lít</a:t>
            </a:r>
            <a:endParaRPr lang="en-US" sz="2000" dirty="0">
              <a:latin typeface="Times New Roman" panose="02020603050405020304" pitchFamily="18" charset="0"/>
              <a:cs typeface="Times New Roman" panose="02020603050405020304" pitchFamily="18" charset="0"/>
            </a:endParaRPr>
          </a:p>
          <a:p>
            <a:pPr marL="342900" indent="-342900" algn="l">
              <a:lnSpc>
                <a:spcPct val="130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Năm thấp nhất:</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2020 — khoảng </a:t>
            </a:r>
            <a:r>
              <a:rPr lang="en-US" sz="2000" dirty="0">
                <a:solidFill>
                  <a:srgbClr val="3257B8"/>
                </a:solidFill>
                <a:latin typeface="Times New Roman" panose="02020603050405020304" pitchFamily="18" charset="0"/>
                <a:ea typeface="Roboto" pitchFamily="34" charset="-122"/>
                <a:cs typeface="Times New Roman" panose="02020603050405020304" pitchFamily="18" charset="0"/>
              </a:rPr>
              <a:t>16.127 VND/lít</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146106" y="5355317"/>
            <a:ext cx="2854154" cy="694567"/>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Nhận Xét</a:t>
            </a:r>
            <a:endParaRPr lang="en-US" sz="2000" dirty="0">
              <a:latin typeface="Times New Roman" panose="02020603050405020304" pitchFamily="18" charset="0"/>
              <a:cs typeface="Times New Roman" panose="02020603050405020304" pitchFamily="18" charset="0"/>
            </a:endParaRPr>
          </a:p>
        </p:txBody>
      </p:sp>
      <p:sp>
        <p:nvSpPr>
          <p:cNvPr id="10" name="Text 7"/>
          <p:cNvSpPr/>
          <p:nvPr/>
        </p:nvSpPr>
        <p:spPr>
          <a:xfrm>
            <a:off x="255182" y="5740066"/>
            <a:ext cx="11036596" cy="694568"/>
          </a:xfrm>
          <a:prstGeom prst="rect">
            <a:avLst/>
          </a:prstGeom>
          <a:noFill/>
          <a:ln/>
        </p:spPr>
        <p:txBody>
          <a:bodyPr wrap="square" lIns="0" tIns="0" rIns="0" bIns="0" rtlCol="0" anchor="t">
            <a:noAutofit/>
          </a:bodyPr>
          <a:lstStyle/>
          <a:p>
            <a:pPr marL="0" indent="0" algn="l">
              <a:lnSpc>
                <a:spcPct val="130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Năm 2022 là năm có giá xăng RON95 trung bình cao nhất. Năm 2020 là năm có giá RON95 trung bình thấp nhất trong dữ liệu. Kết quả này phù hợp với việc giá RON95 cao nhất cũng xuất hiện trong năm 2022.</a:t>
            </a:r>
            <a:endParaRPr lang="en-US"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631238E-404A-A294-3D02-B01BE6262738}"/>
              </a:ext>
            </a:extLst>
          </p:cNvPr>
          <p:cNvPicPr>
            <a:picLocks noChangeAspect="1"/>
          </p:cNvPicPr>
          <p:nvPr/>
        </p:nvPicPr>
        <p:blipFill>
          <a:blip r:embed="rId3"/>
          <a:stretch>
            <a:fillRect/>
          </a:stretch>
        </p:blipFill>
        <p:spPr>
          <a:xfrm>
            <a:off x="331218" y="1985213"/>
            <a:ext cx="6493273" cy="3217092"/>
          </a:xfrm>
          <a:prstGeom prst="rect">
            <a:avLst/>
          </a:prstGeom>
        </p:spPr>
      </p:pic>
      <p:pic>
        <p:nvPicPr>
          <p:cNvPr id="13" name="Picture 12">
            <a:extLst>
              <a:ext uri="{FF2B5EF4-FFF2-40B4-BE49-F238E27FC236}">
                <a16:creationId xmlns:a16="http://schemas.microsoft.com/office/drawing/2014/main" id="{7AC7177E-FE40-E499-B843-62F2CDB1EACD}"/>
              </a:ext>
            </a:extLst>
          </p:cNvPr>
          <p:cNvPicPr>
            <a:picLocks noChangeAspect="1"/>
          </p:cNvPicPr>
          <p:nvPr/>
        </p:nvPicPr>
        <p:blipFill>
          <a:blip r:embed="rId4"/>
          <a:stretch>
            <a:fillRect/>
          </a:stretch>
        </p:blipFill>
        <p:spPr>
          <a:xfrm>
            <a:off x="10929381" y="6347939"/>
            <a:ext cx="1201479" cy="5100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68516" y="262930"/>
            <a:ext cx="576822" cy="256877"/>
          </a:xfrm>
          <a:prstGeom prst="roundRect">
            <a:avLst>
              <a:gd name="adj" fmla="val 6898"/>
            </a:avLst>
          </a:prstGeom>
          <a:solidFill>
            <a:srgbClr val="D7DFF4"/>
          </a:solidFill>
          <a:ln/>
        </p:spPr>
      </p:sp>
      <p:sp>
        <p:nvSpPr>
          <p:cNvPr id="3" name="Text 1"/>
          <p:cNvSpPr/>
          <p:nvPr/>
        </p:nvSpPr>
        <p:spPr>
          <a:xfrm>
            <a:off x="468516" y="217637"/>
            <a:ext cx="2647442" cy="514796"/>
          </a:xfrm>
          <a:prstGeom prst="rect">
            <a:avLst/>
          </a:prstGeom>
          <a:noFill/>
          <a:ln/>
        </p:spPr>
        <p:txBody>
          <a:bodyPr wrap="none" lIns="0" tIns="0" rIns="0" bIns="0" rtlCol="0" anchor="t"/>
          <a:lstStyle/>
          <a:p>
            <a:pPr marL="0" indent="0" algn="l">
              <a:lnSpc>
                <a:spcPct val="119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4</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1454226" y="262930"/>
            <a:ext cx="7496233" cy="514796"/>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Liên Hệ Giữa Giá Dầu Brent và RON95</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87287" y="638162"/>
            <a:ext cx="12020534" cy="681894"/>
          </a:xfrm>
          <a:prstGeom prst="rect">
            <a:avLst/>
          </a:prstGeom>
          <a:noFill/>
          <a:ln/>
        </p:spPr>
        <p:txBody>
          <a:bodyPr wrap="square" lIns="0" tIns="0" rIns="0" bIns="0" rtlCol="0" anchor="t">
            <a:noAutofit/>
          </a:bodyPr>
          <a:lstStyle/>
          <a:p>
            <a:pPr marL="0" indent="0" algn="l">
              <a:lnSpc>
                <a:spcPct val="119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Kiểm tra xem giá dầu Brent thế giới có liên quan đến giá xăng RON95 tại Việt Nam hay không bằng cách tính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hệ</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số</a:t>
            </a:r>
            <a:r>
              <a:rPr lang="vi-VN"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tương</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quan Pearson giữa hai cột </a:t>
            </a:r>
            <a:r>
              <a:rPr lang="en-US" sz="2000" dirty="0" err="1">
                <a:solidFill>
                  <a:srgbClr val="15213F"/>
                </a:solidFill>
                <a:highlight>
                  <a:srgbClr val="EEEFF1"/>
                </a:highlight>
                <a:latin typeface="Times New Roman" panose="02020603050405020304" pitchFamily="18" charset="0"/>
                <a:ea typeface="Consolas" pitchFamily="34" charset="-122"/>
                <a:cs typeface="Times New Roman" panose="02020603050405020304" pitchFamily="18" charset="0"/>
              </a:rPr>
              <a:t>brent_usd_per_barrel</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và</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a:solidFill>
                  <a:srgbClr val="15213F"/>
                </a:solidFill>
                <a:highlight>
                  <a:srgbClr val="EEEFF1"/>
                </a:highlight>
                <a:latin typeface="Times New Roman" panose="02020603050405020304" pitchFamily="18" charset="0"/>
                <a:ea typeface="Consolas" pitchFamily="34" charset="-122"/>
                <a:cs typeface="Times New Roman" panose="02020603050405020304" pitchFamily="18" charset="0"/>
              </a:rPr>
              <a:t>gia_ron95</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sau khi loại bỏ các dòng thiếu dữ liệu.</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87287" y="1499465"/>
            <a:ext cx="3271035" cy="428588"/>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Kết Quả</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1311007" y="1534094"/>
            <a:ext cx="5409122" cy="742998"/>
          </a:xfrm>
          <a:prstGeom prst="rect">
            <a:avLst/>
          </a:prstGeom>
          <a:noFill/>
          <a:ln/>
        </p:spPr>
        <p:txBody>
          <a:bodyPr wrap="none" lIns="0" tIns="0" rIns="0" bIns="0" rtlCol="0" anchor="t"/>
          <a:lstStyle/>
          <a:p>
            <a:pPr marL="0" indent="0" algn="l">
              <a:lnSpc>
                <a:spcPct val="119000"/>
              </a:lnSpc>
              <a:buNone/>
            </a:pP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Hệ</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số</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tương</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quan</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Pearson: </a:t>
            </a:r>
            <a:r>
              <a:rPr lang="en-US" sz="2000" b="1" dirty="0">
                <a:solidFill>
                  <a:srgbClr val="3257B8"/>
                </a:solidFill>
                <a:latin typeface="Times New Roman" panose="02020603050405020304" pitchFamily="18" charset="0"/>
                <a:ea typeface="Roboto" pitchFamily="34" charset="-122"/>
                <a:cs typeface="Times New Roman" panose="02020603050405020304" pitchFamily="18" charset="0"/>
              </a:rPr>
              <a:t>≈ 0,897</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52861" y="1989480"/>
            <a:ext cx="3271035" cy="936289"/>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Nhận Xét</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52861" y="2338519"/>
            <a:ext cx="3063097" cy="2141307"/>
          </a:xfrm>
          <a:prstGeom prst="rect">
            <a:avLst/>
          </a:prstGeom>
          <a:noFill/>
          <a:ln/>
        </p:spPr>
        <p:txBody>
          <a:bodyPr wrap="square" lIns="0" tIns="0" rIns="0" bIns="0" rtlCol="0" anchor="t">
            <a:noAutofit/>
          </a:bodyPr>
          <a:lstStyle/>
          <a:p>
            <a:pPr marL="342900" indent="-342900">
              <a:lnSpc>
                <a:spcPct val="119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Hệ số tương quan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dương và khá cao</a:t>
            </a:r>
            <a:endParaRPr lang="en-US" sz="2000" dirty="0">
              <a:latin typeface="Times New Roman" panose="02020603050405020304" pitchFamily="18" charset="0"/>
              <a:cs typeface="Times New Roman" panose="02020603050405020304" pitchFamily="18" charset="0"/>
            </a:endParaRPr>
          </a:p>
          <a:p>
            <a:pPr marL="342900" indent="-342900">
              <a:lnSpc>
                <a:spcPct val="119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dầu Brent và giá xăng RON95 có xu hướng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biến động cùng chiều</a:t>
            </a:r>
            <a:endParaRPr lang="en-US" sz="2000" dirty="0">
              <a:latin typeface="Times New Roman" panose="02020603050405020304" pitchFamily="18" charset="0"/>
              <a:cs typeface="Times New Roman" panose="02020603050405020304" pitchFamily="18" charset="0"/>
            </a:endParaRPr>
          </a:p>
          <a:p>
            <a:pPr marL="342900" indent="-342900">
              <a:lnSpc>
                <a:spcPct val="11900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Tuy nhiên, giá xăng RON95 tại Việt Nam còn phụ thuộc vào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tỷ giá, thuế, phí, quỹ bình ổn</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và chính sách điều hành giá</a:t>
            </a:r>
            <a:endParaRPr lang="en-US" sz="20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BC6D32A3-3F90-88F0-71C7-A9DD4273B288}"/>
              </a:ext>
            </a:extLst>
          </p:cNvPr>
          <p:cNvPicPr>
            <a:picLocks noChangeAspect="1"/>
          </p:cNvPicPr>
          <p:nvPr/>
        </p:nvPicPr>
        <p:blipFill>
          <a:blip r:embed="rId3"/>
          <a:stretch>
            <a:fillRect/>
          </a:stretch>
        </p:blipFill>
        <p:spPr>
          <a:xfrm>
            <a:off x="3101057" y="3044124"/>
            <a:ext cx="9090943" cy="37433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78421" y="233326"/>
            <a:ext cx="482389" cy="243681"/>
          </a:xfrm>
          <a:prstGeom prst="roundRect">
            <a:avLst>
              <a:gd name="adj" fmla="val 6981"/>
            </a:avLst>
          </a:prstGeom>
          <a:solidFill>
            <a:srgbClr val="D7DFF4"/>
          </a:solidFill>
          <a:ln/>
        </p:spPr>
      </p:sp>
      <p:sp>
        <p:nvSpPr>
          <p:cNvPr id="3" name="Text 1"/>
          <p:cNvSpPr/>
          <p:nvPr/>
        </p:nvSpPr>
        <p:spPr>
          <a:xfrm>
            <a:off x="478421" y="276622"/>
            <a:ext cx="2548668" cy="508794"/>
          </a:xfrm>
          <a:prstGeom prst="rect">
            <a:avLst/>
          </a:prstGeom>
          <a:noFill/>
          <a:ln/>
        </p:spPr>
        <p:txBody>
          <a:bodyPr wrap="none" lIns="0" tIns="0" rIns="0" bIns="0" rtlCol="0" anchor="t"/>
          <a:lstStyle/>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5</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1339702" y="276622"/>
            <a:ext cx="8538765" cy="1036737"/>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GIAI ĐOẠN GIÁ RON95 BIẾN ĐỘNG MẠNH NHẤT</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372140" y="843504"/>
            <a:ext cx="9799412" cy="1026175"/>
          </a:xfrm>
          <a:prstGeom prst="rect">
            <a:avLst/>
          </a:prstGeom>
          <a:noFill/>
          <a:ln/>
        </p:spPr>
        <p:txBody>
          <a:bodyPr wrap="square" lIns="0" tIns="0" rIns="0" bIns="0" rtlCol="0" anchor="t">
            <a:normAutofit/>
          </a:bodyPr>
          <a:lstStyle/>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Tìm thời điểm giá RON95 tăng, giảm hoặc biến động mạnh nhất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bằng</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cách</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tính mức thay đổi giá giữa hai thời điểm liên tiếp và tìm giá trị tuyệt đối lớn nhất.</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719615" y="1774677"/>
            <a:ext cx="4277687" cy="1713142"/>
          </a:xfrm>
          <a:prstGeom prst="roundRect">
            <a:avLst>
              <a:gd name="adj" fmla="val 1639"/>
            </a:avLst>
          </a:prstGeom>
          <a:solidFill>
            <a:srgbClr val="E9ECF2"/>
          </a:solidFill>
          <a:ln/>
        </p:spPr>
      </p:sp>
      <p:sp>
        <p:nvSpPr>
          <p:cNvPr id="7" name="Text 5"/>
          <p:cNvSpPr/>
          <p:nvPr/>
        </p:nvSpPr>
        <p:spPr>
          <a:xfrm>
            <a:off x="871870" y="1946934"/>
            <a:ext cx="3406335" cy="411793"/>
          </a:xfrm>
          <a:prstGeom prst="rect">
            <a:avLst/>
          </a:prstGeom>
          <a:noFill/>
          <a:ln/>
        </p:spPr>
        <p:txBody>
          <a:bodyPr wrap="none" lIns="0" tIns="0" rIns="0" bIns="0" rtlCol="0" anchor="t"/>
          <a:lstStyle/>
          <a:p>
            <a:pPr marL="0" indent="0" algn="l">
              <a:lnSpc>
                <a:spcPct val="104000"/>
              </a:lnSpc>
              <a:buNone/>
            </a:pPr>
            <a:r>
              <a:rPr lang="en-US" sz="2000" dirty="0">
                <a:solidFill>
                  <a:srgbClr val="000000"/>
                </a:solidFill>
                <a:latin typeface="Times New Roman" panose="02020603050405020304" pitchFamily="18" charset="0"/>
                <a:ea typeface="Roboto Slab" pitchFamily="34" charset="-122"/>
                <a:cs typeface="Times New Roman" panose="02020603050405020304" pitchFamily="18" charset="0"/>
              </a:rPr>
              <a:t>📈</a:t>
            </a: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 Biến Động Mạnh Nhất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041991" y="2330998"/>
            <a:ext cx="4858995" cy="814138"/>
          </a:xfrm>
          <a:prstGeom prst="rect">
            <a:avLst/>
          </a:prstGeom>
          <a:noFill/>
          <a:ln/>
        </p:spPr>
        <p:txBody>
          <a:bodyPr wrap="square" lIns="0" tIns="0" rIns="0" bIns="0" rtlCol="0" anchor="t"/>
          <a:lstStyle/>
          <a:p>
            <a:pPr marL="0" indent="0" algn="l">
              <a:lnSpc>
                <a:spcPct val="117000"/>
              </a:lnSpc>
              <a:spcAft>
                <a:spcPts val="500"/>
              </a:spcAft>
              <a:buNone/>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07/03/2026</a:t>
            </a:r>
            <a:endParaRPr lang="en-US" sz="2000" dirty="0">
              <a:latin typeface="Times New Roman" panose="02020603050405020304" pitchFamily="18" charset="0"/>
              <a:cs typeface="Times New Roman" panose="02020603050405020304" pitchFamily="18" charset="0"/>
            </a:endParaRPr>
          </a:p>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Thay đổi: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4.707 VND/lít</a:t>
            </a:r>
            <a:endParaRPr lang="en-US" sz="2000" dirty="0">
              <a:latin typeface="Times New Roman" panose="02020603050405020304" pitchFamily="18" charset="0"/>
              <a:cs typeface="Times New Roman" panose="02020603050405020304" pitchFamily="18" charset="0"/>
            </a:endParaRPr>
          </a:p>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Đây cũng là ngày tăng mạnh nhất</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5107067" y="1784101"/>
            <a:ext cx="3069453" cy="1713142"/>
          </a:xfrm>
          <a:prstGeom prst="roundRect">
            <a:avLst>
              <a:gd name="adj" fmla="val 1639"/>
            </a:avLst>
          </a:prstGeom>
          <a:solidFill>
            <a:srgbClr val="E9ECF2"/>
          </a:solidFill>
          <a:ln/>
        </p:spPr>
        <p:txBody>
          <a:bodyPr/>
          <a:lstStyle/>
          <a:p>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5454503" y="1866106"/>
            <a:ext cx="2608110" cy="492621"/>
          </a:xfrm>
          <a:prstGeom prst="rect">
            <a:avLst/>
          </a:prstGeom>
          <a:noFill/>
          <a:ln/>
        </p:spPr>
        <p:txBody>
          <a:bodyPr wrap="none" lIns="0" tIns="0" rIns="0" bIns="0" rtlCol="0" anchor="t"/>
          <a:lstStyle/>
          <a:p>
            <a:pPr marL="0" indent="0" algn="l">
              <a:lnSpc>
                <a:spcPct val="104000"/>
              </a:lnSpc>
              <a:buNone/>
            </a:pPr>
            <a:r>
              <a:rPr lang="en-US" sz="2000" dirty="0">
                <a:solidFill>
                  <a:srgbClr val="000000"/>
                </a:solidFill>
                <a:latin typeface="Times New Roman" panose="02020603050405020304" pitchFamily="18" charset="0"/>
                <a:ea typeface="Roboto Slab" pitchFamily="34" charset="-122"/>
                <a:cs typeface="Times New Roman" panose="02020603050405020304" pitchFamily="18" charset="0"/>
              </a:rPr>
              <a:t>📉</a:t>
            </a:r>
            <a:r>
              <a:rPr lang="en-US" sz="2000" dirty="0">
                <a:solidFill>
                  <a:srgbClr val="15213F"/>
                </a:solidFill>
                <a:latin typeface="Times New Roman" panose="02020603050405020304" pitchFamily="18" charset="0"/>
                <a:ea typeface="Roboto Slab" pitchFamily="34" charset="-122"/>
                <a:cs typeface="Times New Roman" panose="02020603050405020304" pitchFamily="18" charset="0"/>
              </a:rPr>
              <a:t> Giảm Mạnh Nhất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5454503" y="2323356"/>
            <a:ext cx="4575369" cy="559643"/>
          </a:xfrm>
          <a:prstGeom prst="rect">
            <a:avLst/>
          </a:prstGeom>
          <a:noFill/>
          <a:ln/>
        </p:spPr>
        <p:txBody>
          <a:bodyPr wrap="square" lIns="0" tIns="0" rIns="0" bIns="0" rtlCol="0" anchor="t"/>
          <a:lstStyle/>
          <a:p>
            <a:pPr marL="0" indent="0" algn="l">
              <a:lnSpc>
                <a:spcPct val="117000"/>
              </a:lnSpc>
              <a:spcAft>
                <a:spcPts val="500"/>
              </a:spcAft>
              <a:buNone/>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13/04/2020</a:t>
            </a:r>
            <a:endParaRPr lang="en-US" sz="2000" dirty="0">
              <a:latin typeface="Times New Roman" panose="02020603050405020304" pitchFamily="18" charset="0"/>
              <a:cs typeface="Times New Roman" panose="02020603050405020304" pitchFamily="18" charset="0"/>
            </a:endParaRPr>
          </a:p>
          <a:p>
            <a:pPr marL="0" indent="0" algn="l">
              <a:lnSpc>
                <a:spcPct val="11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Mức giảm: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4.273 VND/lít</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8286285" y="1640657"/>
            <a:ext cx="5274295" cy="704242"/>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Nhận Xét</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8286286" y="1880240"/>
            <a:ext cx="3824198" cy="2160131"/>
          </a:xfrm>
          <a:prstGeom prst="rect">
            <a:avLst/>
          </a:prstGeom>
          <a:noFill/>
          <a:ln/>
        </p:spPr>
        <p:txBody>
          <a:bodyPr wrap="square" lIns="0" tIns="0" rIns="0" bIns="0" rtlCol="0" anchor="t">
            <a:normAutofit/>
          </a:bodyPr>
          <a:lstStyle/>
          <a:p>
            <a:pPr marL="342900" indent="-342900" algn="l">
              <a:lnSpc>
                <a:spcPct val="117000"/>
              </a:lnSpc>
              <a:buFont typeface="Arial" panose="020B0604020202020204" pitchFamily="34" charset="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RON95 có những giai đoạn biến động rất rõ rệt. </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342900" indent="-342900" algn="l">
              <a:lnSpc>
                <a:spcPct val="117000"/>
              </a:lnSpc>
              <a:buFont typeface="Arial" panose="020B0604020202020204" pitchFamily="34" charset="0"/>
              <a:buChar char="•"/>
            </a:pP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Biến</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động thường xuất hiện vào các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ngày điều chỉnh giá</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B101E99C-4074-B640-7B45-DC497632BCB6}"/>
              </a:ext>
            </a:extLst>
          </p:cNvPr>
          <p:cNvPicPr>
            <a:picLocks noChangeAspect="1"/>
          </p:cNvPicPr>
          <p:nvPr/>
        </p:nvPicPr>
        <p:blipFill>
          <a:blip r:embed="rId3"/>
          <a:stretch>
            <a:fillRect/>
          </a:stretch>
        </p:blipFill>
        <p:spPr>
          <a:xfrm>
            <a:off x="79055" y="3487819"/>
            <a:ext cx="9799412" cy="3229974"/>
          </a:xfrm>
          <a:prstGeom prst="rect">
            <a:avLst/>
          </a:prstGeom>
        </p:spPr>
      </p:pic>
      <p:pic>
        <p:nvPicPr>
          <p:cNvPr id="18" name="Picture 17">
            <a:extLst>
              <a:ext uri="{FF2B5EF4-FFF2-40B4-BE49-F238E27FC236}">
                <a16:creationId xmlns:a16="http://schemas.microsoft.com/office/drawing/2014/main" id="{A1495108-1856-2437-D067-96BB33018611}"/>
              </a:ext>
            </a:extLst>
          </p:cNvPr>
          <p:cNvPicPr>
            <a:picLocks noChangeAspect="1"/>
          </p:cNvPicPr>
          <p:nvPr/>
        </p:nvPicPr>
        <p:blipFill>
          <a:blip r:embed="rId4"/>
          <a:stretch>
            <a:fillRect/>
          </a:stretch>
        </p:blipFill>
        <p:spPr>
          <a:xfrm>
            <a:off x="10929381" y="6347939"/>
            <a:ext cx="1201479" cy="5100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72309" y="278904"/>
            <a:ext cx="578530" cy="308868"/>
          </a:xfrm>
          <a:prstGeom prst="roundRect">
            <a:avLst>
              <a:gd name="adj" fmla="val 6609"/>
            </a:avLst>
          </a:prstGeom>
          <a:solidFill>
            <a:srgbClr val="D7DFF4"/>
          </a:solidFill>
          <a:ln/>
        </p:spPr>
      </p:sp>
      <p:sp>
        <p:nvSpPr>
          <p:cNvPr id="3" name="Text 1"/>
          <p:cNvSpPr/>
          <p:nvPr/>
        </p:nvSpPr>
        <p:spPr>
          <a:xfrm>
            <a:off x="297713" y="232763"/>
            <a:ext cx="1449982" cy="678065"/>
          </a:xfrm>
          <a:prstGeom prst="rect">
            <a:avLst/>
          </a:prstGeom>
          <a:noFill/>
          <a:ln/>
        </p:spPr>
        <p:txBody>
          <a:bodyPr wrap="none" lIns="0" tIns="0" rIns="0" bIns="0" rtlCol="0" anchor="t"/>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6</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6096000" y="164110"/>
            <a:ext cx="4681267" cy="1390550"/>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DỰ ĐOÁN GIÁ RON95 — 06 THÁNG CUỐI NĂM 2027</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297713" y="760014"/>
            <a:ext cx="11232408" cy="1541365"/>
          </a:xfrm>
          <a:prstGeom prst="rect">
            <a:avLst/>
          </a:prstGeom>
          <a:noFill/>
          <a:ln/>
        </p:spPr>
        <p:txBody>
          <a:bodyPr wrap="square" lIns="0" tIns="0" rIns="0" bIns="0" rtlCol="0" anchor="t">
            <a:normAutofit/>
          </a:bodyPr>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Dự đoán giá xăng RON95 trung bình từ tháng 07/2027 đến tháng 12/2027 </a:t>
            </a:r>
            <a:endParaRPr lang="vi-VN" sz="200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ct val="127000"/>
              </a:lnSpc>
              <a:buNone/>
            </a:pPr>
            <a:r>
              <a:rPr lang="en-US" sz="2000" dirty="0" err="1">
                <a:solidFill>
                  <a:srgbClr val="15213F"/>
                </a:solidFill>
                <a:latin typeface="Times New Roman" panose="02020603050405020304" pitchFamily="18" charset="0"/>
                <a:ea typeface="Roboto" pitchFamily="34" charset="-122"/>
                <a:cs typeface="Times New Roman" panose="02020603050405020304" pitchFamily="18" charset="0"/>
              </a:rPr>
              <a:t>bằng</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mô hình hồi quy tuyến tính kết hợp thành phần mùa vụ theo tháng.</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106495" y="1554660"/>
            <a:ext cx="9501114" cy="1337766"/>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Nhận Xét Kết Quả Dự Đoán</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291550" y="2022279"/>
            <a:ext cx="11244921" cy="1936649"/>
          </a:xfrm>
          <a:prstGeom prst="rect">
            <a:avLst/>
          </a:prstGeom>
          <a:noFill/>
          <a:ln/>
        </p:spPr>
        <p:txBody>
          <a:bodyPr wrap="square" lIns="0" tIns="0" rIns="0" bIns="0" rtlCol="0" anchor="t"/>
          <a:lstStyle/>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trung bình lịch sử: </a:t>
            </a: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 21.466 VND/lít</a:t>
            </a:r>
            <a:endParaRPr lang="en-US" sz="2000" dirty="0">
              <a:latin typeface="Times New Roman" panose="02020603050405020304" pitchFamily="18" charset="0"/>
              <a:cs typeface="Times New Roman" panose="02020603050405020304" pitchFamily="18" charset="0"/>
            </a:endParaRPr>
          </a:p>
          <a:p>
            <a:pPr marL="0" indent="0" algn="l">
              <a:lnSpc>
                <a:spcPct val="127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Giá dự đoán dao động từ </a:t>
            </a:r>
            <a:r>
              <a:rPr lang="en-US" sz="2000" b="1" dirty="0">
                <a:solidFill>
                  <a:srgbClr val="3257B8"/>
                </a:solidFill>
                <a:latin typeface="Times New Roman" panose="02020603050405020304" pitchFamily="18" charset="0"/>
                <a:ea typeface="Roboto" pitchFamily="34" charset="-122"/>
                <a:cs typeface="Times New Roman" panose="02020603050405020304" pitchFamily="18" charset="0"/>
              </a:rPr>
              <a:t>22.088 đến 23.295 VND/</a:t>
            </a:r>
            <a:r>
              <a:rPr lang="en-US" sz="2000" b="1" dirty="0" err="1">
                <a:solidFill>
                  <a:srgbClr val="3257B8"/>
                </a:solidFill>
                <a:latin typeface="Times New Roman" panose="02020603050405020304" pitchFamily="18" charset="0"/>
                <a:ea typeface="Roboto" pitchFamily="34" charset="-122"/>
                <a:cs typeface="Times New Roman" panose="02020603050405020304" pitchFamily="18" charset="0"/>
              </a:rPr>
              <a:t>lít</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 đều cao hơn mức trung bình lịch sử.</a:t>
            </a:r>
            <a:endParaRPr lang="en-US" sz="2000" dirty="0">
              <a:latin typeface="Times New Roman" panose="02020603050405020304" pitchFamily="18" charset="0"/>
              <a:cs typeface="Times New Roman" panose="02020603050405020304" pitchFamily="18" charset="0"/>
            </a:endParaRPr>
          </a:p>
        </p:txBody>
      </p:sp>
      <p:sp>
        <p:nvSpPr>
          <p:cNvPr id="9" name="Shape 6"/>
          <p:cNvSpPr/>
          <p:nvPr/>
        </p:nvSpPr>
        <p:spPr>
          <a:xfrm>
            <a:off x="106495" y="3175297"/>
            <a:ext cx="4635626" cy="2343001"/>
          </a:xfrm>
          <a:prstGeom prst="roundRect">
            <a:avLst>
              <a:gd name="adj" fmla="val 2246"/>
            </a:avLst>
          </a:prstGeom>
          <a:solidFill>
            <a:srgbClr val="C3CFEF"/>
          </a:solidFill>
          <a:ln/>
        </p:spPr>
      </p:sp>
      <p:pic>
        <p:nvPicPr>
          <p:cNvPr id="10" name="Image 1" descr="preencoded.png"/>
          <p:cNvPicPr>
            <a:picLocks noChangeAspect="1"/>
          </p:cNvPicPr>
          <p:nvPr/>
        </p:nvPicPr>
        <p:blipFill>
          <a:blip r:embed="rId3"/>
          <a:stretch>
            <a:fillRect/>
          </a:stretch>
        </p:blipFill>
        <p:spPr>
          <a:xfrm>
            <a:off x="291551" y="3426714"/>
            <a:ext cx="212620" cy="170061"/>
          </a:xfrm>
          <a:prstGeom prst="rect">
            <a:avLst/>
          </a:prstGeom>
        </p:spPr>
      </p:pic>
      <p:sp>
        <p:nvSpPr>
          <p:cNvPr id="11" name="Text 7"/>
          <p:cNvSpPr/>
          <p:nvPr/>
        </p:nvSpPr>
        <p:spPr>
          <a:xfrm>
            <a:off x="106495" y="3642916"/>
            <a:ext cx="4327282" cy="1301223"/>
          </a:xfrm>
          <a:prstGeom prst="rect">
            <a:avLst/>
          </a:prstGeom>
          <a:noFill/>
          <a:ln/>
        </p:spPr>
        <p:txBody>
          <a:bodyPr wrap="square" lIns="0" tIns="0" rIns="0" bIns="0" rtlCol="0" anchor="t">
            <a:noAutofit/>
          </a:bodyPr>
          <a:lstStyle/>
          <a:p>
            <a:pPr marL="0" indent="0" algn="l">
              <a:lnSpc>
                <a:spcPct val="127000"/>
              </a:lnSpc>
              <a:buNone/>
            </a:pPr>
            <a:r>
              <a:rPr lang="en-US" sz="2000" dirty="0">
                <a:solidFill>
                  <a:srgbClr val="000000"/>
                </a:solidFill>
                <a:latin typeface="Times New Roman" panose="02020603050405020304" pitchFamily="18" charset="0"/>
                <a:ea typeface="Roboto" pitchFamily="34" charset="-122"/>
                <a:cs typeface="Times New Roman" panose="02020603050405020304" pitchFamily="18" charset="0"/>
              </a:rPr>
              <a:t>Kết quả chỉ mang tính tham khảo vì giá xăng thực tế còn phụ thuộc vào nhiều yếu tố như giá dầu thế giới, tỷ giá, thuế phí và chính sách điều hành.</a:t>
            </a:r>
            <a:endParaRPr lang="en-US" sz="20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493491A-1346-B085-0661-D9E6B610E850}"/>
              </a:ext>
            </a:extLst>
          </p:cNvPr>
          <p:cNvPicPr>
            <a:picLocks noChangeAspect="1"/>
          </p:cNvPicPr>
          <p:nvPr/>
        </p:nvPicPr>
        <p:blipFill>
          <a:blip r:embed="rId4"/>
          <a:stretch>
            <a:fillRect/>
          </a:stretch>
        </p:blipFill>
        <p:spPr>
          <a:xfrm>
            <a:off x="5347388" y="3426714"/>
            <a:ext cx="6738117" cy="3338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56270" y="274145"/>
            <a:ext cx="622681" cy="340320"/>
          </a:xfrm>
          <a:prstGeom prst="roundRect">
            <a:avLst>
              <a:gd name="adj" fmla="val 6457"/>
            </a:avLst>
          </a:prstGeom>
          <a:solidFill>
            <a:srgbClr val="D7DFF4"/>
          </a:solidFill>
          <a:ln/>
        </p:spPr>
      </p:sp>
      <p:sp>
        <p:nvSpPr>
          <p:cNvPr id="3" name="Text 1"/>
          <p:cNvSpPr/>
          <p:nvPr/>
        </p:nvSpPr>
        <p:spPr>
          <a:xfrm>
            <a:off x="404037" y="204839"/>
            <a:ext cx="1549829" cy="627011"/>
          </a:xfrm>
          <a:prstGeom prst="rect">
            <a:avLst/>
          </a:prstGeom>
          <a:noFill/>
          <a:ln/>
        </p:spPr>
        <p:txBody>
          <a:bodyPr wrap="none" lIns="0" tIns="0" rIns="0" bIns="0" rtlCol="0" anchor="t"/>
          <a:lstStyle/>
          <a:p>
            <a:pPr marL="0" indent="0" algn="l">
              <a:lnSpc>
                <a:spcPct val="131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CÂU 7</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1520456" y="219775"/>
            <a:ext cx="4904194" cy="735899"/>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PHÂN NHÓM GIÁ RON95</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318584" y="831850"/>
            <a:ext cx="11346623" cy="434771"/>
          </a:xfrm>
          <a:prstGeom prst="rect">
            <a:avLst/>
          </a:prstGeom>
          <a:noFill/>
          <a:ln/>
        </p:spPr>
        <p:txBody>
          <a:bodyPr wrap="none" lIns="0" tIns="0" rIns="0" bIns="0" rtlCol="0" anchor="t"/>
          <a:lstStyle/>
          <a:p>
            <a:pPr marL="0" indent="0" algn="l">
              <a:lnSpc>
                <a:spcPct val="131000"/>
              </a:lnSpc>
              <a:buNone/>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Chia giá RON95 thành 3 nhóm: thấp, trung bình và cao dựa trên phân vị 33% và 66% của giá RON95.</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318584" y="1443924"/>
            <a:ext cx="3411253" cy="1303245"/>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Ngưỡng Phân Nhóm</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154456" y="1878695"/>
            <a:ext cx="4931246" cy="1684648"/>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Phân vị 33%:</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20.465 VND/lít</a:t>
            </a:r>
            <a:endParaRPr lang="en-US" sz="2000" dirty="0">
              <a:latin typeface="Times New Roman" panose="02020603050405020304" pitchFamily="18" charset="0"/>
              <a:cs typeface="Times New Roman" panose="02020603050405020304" pitchFamily="18" charset="0"/>
            </a:endParaRPr>
          </a:p>
          <a:p>
            <a:pPr marL="342900" indent="-342900" algn="l">
              <a:lnSpc>
                <a:spcPct val="131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Phân vị 66%:</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22.342 VND/lít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5345720" y="1327149"/>
            <a:ext cx="3506553" cy="1536793"/>
          </a:xfrm>
          <a:prstGeom prst="rect">
            <a:avLst/>
          </a:prstGeom>
          <a:noFill/>
          <a:ln/>
        </p:spPr>
        <p:txBody>
          <a:bodyPr wrap="none" lIns="0" tIns="0" rIns="0" bIns="0" rtlCol="0" anchor="t"/>
          <a:lstStyle/>
          <a:p>
            <a:pPr marL="0" indent="0" algn="l">
              <a:lnSpc>
                <a:spcPct val="104000"/>
              </a:lnSpc>
              <a:buNone/>
            </a:pPr>
            <a:r>
              <a:rPr lang="en-US" sz="2000" dirty="0">
                <a:solidFill>
                  <a:srgbClr val="3257B8"/>
                </a:solidFill>
                <a:latin typeface="Times New Roman" panose="02020603050405020304" pitchFamily="18" charset="0"/>
                <a:ea typeface="Roboto Slab" pitchFamily="34" charset="-122"/>
                <a:cs typeface="Times New Roman" panose="02020603050405020304" pitchFamily="18" charset="0"/>
              </a:rPr>
              <a:t>Phân Nhóm</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5826643" y="1589198"/>
            <a:ext cx="6365358" cy="1157971"/>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Giá thấp:</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 20.465 VND/lít</a:t>
            </a:r>
            <a:endParaRPr lang="en-US" sz="2000" dirty="0">
              <a:latin typeface="Times New Roman" panose="02020603050405020304" pitchFamily="18" charset="0"/>
              <a:cs typeface="Times New Roman" panose="02020603050405020304" pitchFamily="18" charset="0"/>
            </a:endParaRPr>
          </a:p>
          <a:p>
            <a:pPr marL="342900" indent="-342900" algn="l">
              <a:lnSpc>
                <a:spcPct val="131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Giá trung bình:</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20.465 – 22.342 VND/lít</a:t>
            </a:r>
            <a:endParaRPr lang="en-US" sz="2000" dirty="0">
              <a:latin typeface="Times New Roman" panose="02020603050405020304" pitchFamily="18" charset="0"/>
              <a:cs typeface="Times New Roman" panose="02020603050405020304" pitchFamily="18" charset="0"/>
            </a:endParaRPr>
          </a:p>
          <a:p>
            <a:pPr marL="342900" indent="-342900" algn="l">
              <a:lnSpc>
                <a:spcPct val="131000"/>
              </a:lnSpc>
              <a:buSzPct val="100000"/>
              <a:buChar char="•"/>
            </a:pPr>
            <a:r>
              <a:rPr lang="en-US" sz="2000" b="1" dirty="0">
                <a:solidFill>
                  <a:srgbClr val="15213F"/>
                </a:solidFill>
                <a:latin typeface="Times New Roman" panose="02020603050405020304" pitchFamily="18" charset="0"/>
                <a:ea typeface="Roboto" pitchFamily="34" charset="-122"/>
                <a:cs typeface="Times New Roman" panose="02020603050405020304" pitchFamily="18" charset="0"/>
              </a:rPr>
              <a:t>Giá cao:</a:t>
            </a: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 &gt; 22.342 VND/lít</a:t>
            </a:r>
            <a:endParaRPr lang="en-US"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BCA069AF-7276-159C-FF2A-66680A2440D5}"/>
              </a:ext>
            </a:extLst>
          </p:cNvPr>
          <p:cNvPicPr>
            <a:picLocks noChangeAspect="1"/>
          </p:cNvPicPr>
          <p:nvPr/>
        </p:nvPicPr>
        <p:blipFill>
          <a:blip r:embed="rId3"/>
          <a:stretch>
            <a:fillRect/>
          </a:stretch>
        </p:blipFill>
        <p:spPr>
          <a:xfrm>
            <a:off x="2480351" y="2863942"/>
            <a:ext cx="9672458" cy="39861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574" y="975122"/>
            <a:ext cx="913881" cy="355203"/>
          </a:xfrm>
          <a:prstGeom prst="roundRect">
            <a:avLst>
              <a:gd name="adj" fmla="val 6386"/>
            </a:avLst>
          </a:prstGeom>
          <a:solidFill>
            <a:srgbClr val="D7DFF4"/>
          </a:solidFill>
          <a:ln/>
        </p:spPr>
      </p:sp>
      <p:sp>
        <p:nvSpPr>
          <p:cNvPr id="3" name="Text 1"/>
          <p:cNvSpPr/>
          <p:nvPr/>
        </p:nvSpPr>
        <p:spPr>
          <a:xfrm>
            <a:off x="774978" y="1031776"/>
            <a:ext cx="1296657" cy="241895"/>
          </a:xfrm>
          <a:prstGeom prst="rect">
            <a:avLst/>
          </a:prstGeom>
          <a:noFill/>
          <a:ln/>
        </p:spPr>
        <p:txBody>
          <a:bodyPr wrap="none" lIns="0" tIns="0" rIns="0" bIns="0" rtlCol="0" anchor="t"/>
          <a:lstStyle/>
          <a:p>
            <a:pPr marL="0" indent="0" algn="l">
              <a:lnSpc>
                <a:spcPct val="133000"/>
              </a:lnSpc>
              <a:buNone/>
            </a:pPr>
            <a:r>
              <a:rPr lang="en-US" sz="1150" dirty="0">
                <a:solidFill>
                  <a:srgbClr val="15213F"/>
                </a:solidFill>
                <a:latin typeface="Roboto" pitchFamily="34" charset="0"/>
                <a:ea typeface="Roboto" pitchFamily="34" charset="-122"/>
                <a:cs typeface="Roboto" pitchFamily="34" charset="-120"/>
              </a:rPr>
              <a:t>KẾT LUẬN</a:t>
            </a:r>
            <a:endParaRPr lang="en-US" sz="1150" dirty="0"/>
          </a:p>
        </p:txBody>
      </p:sp>
      <p:sp>
        <p:nvSpPr>
          <p:cNvPr id="4" name="Text 2"/>
          <p:cNvSpPr/>
          <p:nvPr/>
        </p:nvSpPr>
        <p:spPr>
          <a:xfrm>
            <a:off x="661574" y="1405930"/>
            <a:ext cx="7369288"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Kết Luận và Hướng Phát Triển</a:t>
            </a:r>
            <a:endParaRPr lang="en-US" sz="3700" dirty="0"/>
          </a:p>
        </p:txBody>
      </p:sp>
      <p:sp>
        <p:nvSpPr>
          <p:cNvPr id="5" name="Text 3"/>
          <p:cNvSpPr/>
          <p:nvPr/>
        </p:nvSpPr>
        <p:spPr>
          <a:xfrm>
            <a:off x="661574" y="228004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01</a:t>
            </a:r>
            <a:endParaRPr lang="en-US" sz="1450" dirty="0"/>
          </a:p>
        </p:txBody>
      </p:sp>
      <p:pic>
        <p:nvPicPr>
          <p:cNvPr id="6" name="Image 0" descr="preencoded.png"/>
          <p:cNvPicPr>
            <a:picLocks noChangeAspect="1"/>
          </p:cNvPicPr>
          <p:nvPr/>
        </p:nvPicPr>
        <p:blipFill>
          <a:blip r:embed="rId3"/>
          <a:stretch>
            <a:fillRect/>
          </a:stretch>
        </p:blipFill>
        <p:spPr>
          <a:xfrm>
            <a:off x="661574" y="2575917"/>
            <a:ext cx="5339720" cy="25400"/>
          </a:xfrm>
          <a:prstGeom prst="rect">
            <a:avLst/>
          </a:prstGeom>
        </p:spPr>
      </p:pic>
      <p:sp>
        <p:nvSpPr>
          <p:cNvPr id="7" name="Text 4"/>
          <p:cNvSpPr/>
          <p:nvPr/>
        </p:nvSpPr>
        <p:spPr>
          <a:xfrm>
            <a:off x="661574" y="2721173"/>
            <a:ext cx="533972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Hoàn thành chương trình phân tích dữ liệu giá xăng RON95</a:t>
            </a:r>
            <a:endParaRPr lang="en-US" sz="1850" dirty="0"/>
          </a:p>
        </p:txBody>
      </p:sp>
      <p:sp>
        <p:nvSpPr>
          <p:cNvPr id="8" name="Text 5"/>
          <p:cNvSpPr/>
          <p:nvPr/>
        </p:nvSpPr>
        <p:spPr>
          <a:xfrm>
            <a:off x="6190301" y="228004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02</a:t>
            </a:r>
            <a:endParaRPr lang="en-US" sz="1450" dirty="0"/>
          </a:p>
        </p:txBody>
      </p:sp>
      <p:pic>
        <p:nvPicPr>
          <p:cNvPr id="9" name="Image 1" descr="preencoded.png"/>
          <p:cNvPicPr>
            <a:picLocks noChangeAspect="1"/>
          </p:cNvPicPr>
          <p:nvPr/>
        </p:nvPicPr>
        <p:blipFill>
          <a:blip r:embed="rId3"/>
          <a:stretch>
            <a:fillRect/>
          </a:stretch>
        </p:blipFill>
        <p:spPr>
          <a:xfrm>
            <a:off x="6190301" y="2575917"/>
            <a:ext cx="5339820" cy="25400"/>
          </a:xfrm>
          <a:prstGeom prst="rect">
            <a:avLst/>
          </a:prstGeom>
        </p:spPr>
      </p:pic>
      <p:sp>
        <p:nvSpPr>
          <p:cNvPr id="10" name="Text 6"/>
          <p:cNvSpPr/>
          <p:nvPr/>
        </p:nvSpPr>
        <p:spPr>
          <a:xfrm>
            <a:off x="6190301" y="2721173"/>
            <a:ext cx="533982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Xử lý dữ liệu giá xăng dầu Việt Nam giai đoạn 2018–2026</a:t>
            </a:r>
            <a:endParaRPr lang="en-US" sz="1850" dirty="0"/>
          </a:p>
        </p:txBody>
      </p:sp>
      <p:sp>
        <p:nvSpPr>
          <p:cNvPr id="11" name="Text 7"/>
          <p:cNvSpPr/>
          <p:nvPr/>
        </p:nvSpPr>
        <p:spPr>
          <a:xfrm>
            <a:off x="661574" y="3642420"/>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03</a:t>
            </a:r>
            <a:endParaRPr lang="en-US" sz="1450" dirty="0"/>
          </a:p>
        </p:txBody>
      </p:sp>
      <p:pic>
        <p:nvPicPr>
          <p:cNvPr id="12" name="Image 2" descr="preencoded.png"/>
          <p:cNvPicPr>
            <a:picLocks noChangeAspect="1"/>
          </p:cNvPicPr>
          <p:nvPr/>
        </p:nvPicPr>
        <p:blipFill>
          <a:blip r:embed="rId3"/>
          <a:stretch>
            <a:fillRect/>
          </a:stretch>
        </p:blipFill>
        <p:spPr>
          <a:xfrm>
            <a:off x="661574" y="3919339"/>
            <a:ext cx="5339720" cy="25400"/>
          </a:xfrm>
          <a:prstGeom prst="rect">
            <a:avLst/>
          </a:prstGeom>
        </p:spPr>
      </p:pic>
      <p:sp>
        <p:nvSpPr>
          <p:cNvPr id="13" name="Text 8"/>
          <p:cNvSpPr/>
          <p:nvPr/>
        </p:nvSpPr>
        <p:spPr>
          <a:xfrm>
            <a:off x="661574" y="4083546"/>
            <a:ext cx="4235642"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Trả lời được 7 câu hỏi phân tích chính</a:t>
            </a:r>
            <a:endParaRPr lang="en-US" sz="1850" dirty="0"/>
          </a:p>
        </p:txBody>
      </p:sp>
      <p:sp>
        <p:nvSpPr>
          <p:cNvPr id="14" name="Text 9"/>
          <p:cNvSpPr/>
          <p:nvPr/>
        </p:nvSpPr>
        <p:spPr>
          <a:xfrm>
            <a:off x="6190301" y="3642420"/>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04</a:t>
            </a:r>
            <a:endParaRPr lang="en-US" sz="1450" dirty="0"/>
          </a:p>
        </p:txBody>
      </p:sp>
      <p:pic>
        <p:nvPicPr>
          <p:cNvPr id="15" name="Image 3" descr="preencoded.png"/>
          <p:cNvPicPr>
            <a:picLocks noChangeAspect="1"/>
          </p:cNvPicPr>
          <p:nvPr/>
        </p:nvPicPr>
        <p:blipFill>
          <a:blip r:embed="rId3"/>
          <a:stretch>
            <a:fillRect/>
          </a:stretch>
        </p:blipFill>
        <p:spPr>
          <a:xfrm>
            <a:off x="6190301" y="3919339"/>
            <a:ext cx="5339820" cy="25400"/>
          </a:xfrm>
          <a:prstGeom prst="rect">
            <a:avLst/>
          </a:prstGeom>
        </p:spPr>
      </p:pic>
      <p:sp>
        <p:nvSpPr>
          <p:cNvPr id="16" name="Text 10"/>
          <p:cNvSpPr/>
          <p:nvPr/>
        </p:nvSpPr>
        <p:spPr>
          <a:xfrm>
            <a:off x="6190301" y="4083546"/>
            <a:ext cx="4950693"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Xuất được bảng kết quả và biểu đồ trực quan</a:t>
            </a:r>
            <a:endParaRPr lang="en-US" sz="1850" dirty="0"/>
          </a:p>
        </p:txBody>
      </p:sp>
      <p:sp>
        <p:nvSpPr>
          <p:cNvPr id="17" name="Text 11"/>
          <p:cNvSpPr/>
          <p:nvPr/>
        </p:nvSpPr>
        <p:spPr>
          <a:xfrm>
            <a:off x="661574" y="470951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05</a:t>
            </a:r>
            <a:endParaRPr lang="en-US" sz="1450" dirty="0"/>
          </a:p>
        </p:txBody>
      </p:sp>
      <p:pic>
        <p:nvPicPr>
          <p:cNvPr id="18" name="Image 4" descr="preencoded.png"/>
          <p:cNvPicPr>
            <a:picLocks noChangeAspect="1"/>
          </p:cNvPicPr>
          <p:nvPr/>
        </p:nvPicPr>
        <p:blipFill>
          <a:blip r:embed="rId3"/>
          <a:stretch>
            <a:fillRect/>
          </a:stretch>
        </p:blipFill>
        <p:spPr>
          <a:xfrm>
            <a:off x="661574" y="4967585"/>
            <a:ext cx="5339720" cy="25400"/>
          </a:xfrm>
          <a:prstGeom prst="rect">
            <a:avLst/>
          </a:prstGeom>
        </p:spPr>
      </p:pic>
      <p:sp>
        <p:nvSpPr>
          <p:cNvPr id="19" name="Text 12"/>
          <p:cNvSpPr/>
          <p:nvPr/>
        </p:nvSpPr>
        <p:spPr>
          <a:xfrm>
            <a:off x="661574" y="5150644"/>
            <a:ext cx="533972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Xây dựng mô hình dự đoán giá RON95 trong 06 tháng cuối năm 2027</a:t>
            </a:r>
            <a:endParaRPr lang="en-US" sz="1850" dirty="0"/>
          </a:p>
        </p:txBody>
      </p:sp>
      <p:sp>
        <p:nvSpPr>
          <p:cNvPr id="20" name="Text 13"/>
          <p:cNvSpPr/>
          <p:nvPr/>
        </p:nvSpPr>
        <p:spPr>
          <a:xfrm>
            <a:off x="6190301" y="4709517"/>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15213F"/>
                </a:solidFill>
                <a:latin typeface="Roboto Slab Light" pitchFamily="34" charset="0"/>
                <a:ea typeface="Roboto Slab Light" pitchFamily="34" charset="-122"/>
                <a:cs typeface="Roboto Slab Light" pitchFamily="34" charset="-120"/>
              </a:rPr>
              <a:t>06</a:t>
            </a:r>
            <a:endParaRPr lang="en-US" sz="1450" dirty="0"/>
          </a:p>
        </p:txBody>
      </p:sp>
      <p:pic>
        <p:nvPicPr>
          <p:cNvPr id="21" name="Image 5" descr="preencoded.png"/>
          <p:cNvPicPr>
            <a:picLocks noChangeAspect="1"/>
          </p:cNvPicPr>
          <p:nvPr/>
        </p:nvPicPr>
        <p:blipFill>
          <a:blip r:embed="rId3"/>
          <a:stretch>
            <a:fillRect/>
          </a:stretch>
        </p:blipFill>
        <p:spPr>
          <a:xfrm>
            <a:off x="6190301" y="4967585"/>
            <a:ext cx="5339820" cy="25400"/>
          </a:xfrm>
          <a:prstGeom prst="rect">
            <a:avLst/>
          </a:prstGeom>
        </p:spPr>
      </p:pic>
      <p:sp>
        <p:nvSpPr>
          <p:cNvPr id="22" name="Text 14"/>
          <p:cNvSpPr/>
          <p:nvPr/>
        </p:nvSpPr>
        <p:spPr>
          <a:xfrm>
            <a:off x="6190301" y="5150644"/>
            <a:ext cx="533982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Phân nhóm giá RON95 thành thấp, trung bình và cao</a:t>
            </a:r>
            <a:endParaRPr lang="en-US" sz="1850" dirty="0"/>
          </a:p>
        </p:txBody>
      </p:sp>
      <p:pic>
        <p:nvPicPr>
          <p:cNvPr id="24" name="Picture 23">
            <a:extLst>
              <a:ext uri="{FF2B5EF4-FFF2-40B4-BE49-F238E27FC236}">
                <a16:creationId xmlns:a16="http://schemas.microsoft.com/office/drawing/2014/main" id="{B7CFC381-0876-C87B-6CDF-7D3B3A1BAB29}"/>
              </a:ext>
            </a:extLst>
          </p:cNvPr>
          <p:cNvPicPr>
            <a:picLocks noChangeAspect="1"/>
          </p:cNvPicPr>
          <p:nvPr/>
        </p:nvPicPr>
        <p:blipFill>
          <a:blip r:embed="rId4"/>
          <a:stretch>
            <a:fillRect/>
          </a:stretch>
        </p:blipFill>
        <p:spPr>
          <a:xfrm>
            <a:off x="10929381" y="6347939"/>
            <a:ext cx="1201479" cy="5100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572</TotalTime>
  <Words>1099</Words>
  <Application>Microsoft Office PowerPoint</Application>
  <PresentationFormat>Widescreen</PresentationFormat>
  <Paragraphs>137</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Roboto Slab</vt:lpstr>
      <vt:lpstr>Roboto Slab Light</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Thắng Nguyễn Tiến</dc:creator>
  <cp:lastModifiedBy>ACER</cp:lastModifiedBy>
  <cp:revision>4</cp:revision>
  <dcterms:created xsi:type="dcterms:W3CDTF">2026-06-19T19:45:23Z</dcterms:created>
  <dcterms:modified xsi:type="dcterms:W3CDTF">2026-06-20T05:17:52Z</dcterms:modified>
</cp:coreProperties>
</file>